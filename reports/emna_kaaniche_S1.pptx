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aser Arabic Ultra-Bold" charset="1" panose="00000900000000000000"/>
      <p:regular r:id="rId24"/>
    </p:embeddedFont>
    <p:embeddedFont>
      <p:font typeface="Montserrat" charset="1" panose="00000500000000000000"/>
      <p:regular r:id="rId25"/>
    </p:embeddedFont>
    <p:embeddedFont>
      <p:font typeface="Montserrat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Bonjour à tous cette presetation est n est presnté par  moi emna kaaniche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Face à la concurrence, notre stratégie repose sur une conviction : la donnée doit devenir une action. Nous avons développé une solution IA articulée autour de trois piliers simples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Segmenter : Pour offrir le bon cadeau au bon moment.</a:t>
            </a:r>
          </a:p>
          <a:p>
            <a:r>
              <a:rPr lang="en-US"/>
              <a:t/>
            </a:r>
          </a:p>
          <a:p>
            <a:r>
              <a:rPr lang="en-US"/>
              <a:t>Prédire : Pour stopper le départ de nos clients  avant qu’il n’arrive.</a:t>
            </a:r>
          </a:p>
          <a:p>
            <a:r>
              <a:rPr lang="en-US"/>
              <a:t/>
            </a:r>
          </a:p>
          <a:p>
            <a:r>
              <a:rPr lang="en-US"/>
              <a:t>Valoriser : Pour prédire et maximiser chaque euro de chiffre d'affaires.</a:t>
            </a:r>
          </a:p>
          <a:p>
            <a:r>
              <a:rPr lang="en-US"/>
              <a:t/>
            </a:r>
          </a:p>
          <a:p>
            <a:r>
              <a:rPr lang="en-US"/>
              <a:t>Passons des suppositions aux prévisions. Voici comment nous avons transformé nos chiffres en résultats.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Tout commence par la qualité des données. Nous avons mis en place un pipeline rigoureux : nous avons nettoyé les erreurs, supprimé les variables 'tricheuses' qui faussent les résultats, et transformé 52 colonnes brutes en un moteur de  variables mathématiques pures. C’est ce qui garantit la fiabilité de tout ce qui suit.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notre point de départ : la matrice de corrélation brute. Au premier coup d'œil, ce qui frappe, c'est l'omniprésence de zones très sombres, qu'elles soient bleu foncé ou rouge vif.</a:t>
            </a:r>
          </a:p>
          <a:p>
            <a:r>
              <a:rPr lang="en-US"/>
              <a:t>Cela nous indique un problème majeur de multicolinéarité. Concrètement, beaucoup de nos variables sont des 'doublons' mathématiques. Par exemple, les différentes mesures de montant et de quantité sont tellement liées qu'elles racontent la même histoire.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Après nettoyage et ingénierie des données, voici l'état final de notre jeu de données. Le changement est radical : la matrice est devenue beaucoup plus 'claire' et équilibrée.</a:t>
            </a:r>
          </a:p>
          <a:p>
            <a:r>
              <a:rPr lang="en-US"/>
              <a:t/>
            </a:r>
          </a:p>
          <a:p>
            <a:r>
              <a:rPr lang="en-US"/>
              <a:t>Nous avons drastiquement réduit la colinéarité en ne conservant que les indicateurs les plus pertinents.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Premier pilier : Le Clustering. Grâce à l’algorithme K-Means, nous avons identifié 4 groupes de clients distincts.</a:t>
            </a:r>
          </a:p>
          <a:p>
            <a:r>
              <a:rPr lang="en-US"/>
              <a:t/>
            </a:r>
          </a:p>
          <a:p>
            <a:r>
              <a:rPr lang="en-US"/>
              <a:t>Le constat : Nous ne parlons plus à une masse, mais à des profils précis, comme nos 243 clients VIP.</a:t>
            </a:r>
          </a:p>
          <a:p>
            <a:r>
              <a:rPr lang="en-US"/>
              <a:t/>
            </a:r>
          </a:p>
          <a:p>
            <a:r>
              <a:rPr lang="en-US"/>
              <a:t>donc L'action est ce  Fini les publicités génériques. Nous personnalisons désormais nos offres selon le comportement réel de chaque groupe.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Pour les VIP (Cluster 1) :il faut faire un Programme de fidélité , accès prioritaire aux nouvelles collections de cadeaux.</a:t>
            </a:r>
          </a:p>
          <a:p>
            <a:r>
              <a:rPr lang="en-US"/>
              <a:t>et Pour le Cluster 3 : il faut faire une Campagnes de parrainage pour transformer ces clients réguliers en ambassadeurs.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éviter de perdre nos clients, nous avons mis en place un modèle de classification. Le Random Forest a été notre choix stratégique : il est extrêmement rapide et robuste. Il nous permet de prédire avec une précision de 79% quels clients risquent de nous quitter.</a:t>
            </a:r>
          </a:p>
          <a:p>
            <a:r>
              <a:rPr lang="en-US"/>
              <a:t>on a utiisé le gridsearchcv pour obtenir les meilleurs parametres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les features les plus utilisé par le modele pour interpreter de depart de client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transformant nos scores de risque en déclencheurs automatiques, nous passons d'une analyse passive à une rétention proactive, garantissant que chaque client fragile reçoive une offre personnalisée avant même d'envisager de nous quitter.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Enfin, nous ne nous contentons pas de savoir qui reste, nous prédisons aussi combien ils vont dépenser. Notre modèle de régression nous donne une vision claire du potentiel financier de chaque client, ce qui nous permet d'allouer notre budget marketing là où le retour sur investissement sera le plus fort.</a:t>
            </a:r>
          </a:p>
          <a:p>
            <a:r>
              <a:rPr lang="en-US"/>
              <a:t/>
            </a:r>
          </a:p>
          <a:p>
            <a:r>
              <a:rPr lang="en-US"/>
              <a:t/>
            </a:r>
          </a:p>
          <a:p>
            <a:r>
              <a:rPr lang="en-US"/>
              <a:t>Random Forest Regressor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l'Optimisation Budgétaire </a:t>
            </a:r>
          </a:p>
          <a:p>
            <a:r>
              <a:rPr lang="en-US"/>
              <a:t>"Grâce à la précision de notre régression, nous cessons d'investir à perte : chaque euro de budget publicitaire est désormais alloué uniquement aux clients dont le revenu prédit est supérieur à leur coût d'acquisition."</a:t>
            </a:r>
          </a:p>
          <a:p>
            <a:r>
              <a:rPr lang="en-US"/>
              <a:t>Pour le Ciblage Haute Valeur "Nous transformons le potentiel en réalité : en isolant les clients à forte dépense prédite mais faible fréquence, nous activons des campagnes d'Upselling chirurgicales pour maximiser la valeur de nos futurs ambassadeurs.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concrétiser ce projet, j'ai développé cette interface avec flask qui rend l'analyse prédictive accessible en un clic.</a:t>
            </a:r>
          </a:p>
          <a:p>
            <a:r>
              <a:rPr lang="en-US"/>
              <a:t/>
            </a:r>
          </a:p>
          <a:p>
            <a:r>
              <a:rPr lang="en-US"/>
              <a:t>À gauche, l'entrée des données : On saisit le profil d'un client (ses achats, sa satisfaction, son comportement).</a:t>
            </a:r>
          </a:p>
          <a:p>
            <a:r>
              <a:rPr lang="en-US"/>
              <a:t/>
            </a:r>
          </a:p>
          <a:p>
            <a:r>
              <a:rPr lang="en-US"/>
              <a:t>À droite, le verdict des modèles : * Le Churn : On voit ici un risque de 49.9%, un client qui hésite à nous quitter.</a:t>
            </a:r>
          </a:p>
          <a:p>
            <a:r>
              <a:rPr lang="en-US"/>
              <a:t/>
            </a:r>
          </a:p>
          <a:p>
            <a:r>
              <a:rPr lang="en-US"/>
              <a:t>Le Segment : Il est classé comme 'Dormant', confirmant son inactivité récente.</a:t>
            </a:r>
          </a:p>
          <a:p>
            <a:r>
              <a:rPr lang="en-US"/>
              <a:t/>
            </a:r>
          </a:p>
          <a:p>
            <a:r>
              <a:rPr lang="en-US"/>
              <a:t>La Valeur Prédite : Le modèle estime un gain futur quasi nul si on n'intervient pas.</a:t>
            </a:r>
          </a:p>
          <a:p>
            <a:r>
              <a:rPr lang="en-US"/>
              <a:t/>
            </a:r>
          </a:p>
          <a:p>
            <a:r>
              <a:rPr lang="en-US"/>
              <a:t>L'Action : L'outil suggère immédiatement une campagne de réactivation pour tenter de sauver ce client.</a:t>
            </a:r>
          </a:p>
          <a:p>
            <a:r>
              <a:rPr lang="en-US"/>
              <a:t/>
            </a:r>
          </a:p>
          <a:p>
            <a:r>
              <a:rPr lang="en-US"/>
              <a:t>En résumé : C'est un véritable tableau de bord décisionnel qui transforme la Data en actions marketing directes.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jpeg" Type="http://schemas.openxmlformats.org/officeDocument/2006/relationships/image"/><Relationship Id="rId7"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55400" t="-25884" r="-8796" b="0"/>
            </a:stretch>
          </a:blipFill>
        </p:spPr>
      </p:sp>
      <p:grpSp>
        <p:nvGrpSpPr>
          <p:cNvPr name="Group 3" id="3"/>
          <p:cNvGrpSpPr/>
          <p:nvPr/>
        </p:nvGrpSpPr>
        <p:grpSpPr>
          <a:xfrm rot="0">
            <a:off x="0" y="0"/>
            <a:ext cx="12071988" cy="10287000"/>
            <a:chOff x="0" y="0"/>
            <a:chExt cx="3179454" cy="2709333"/>
          </a:xfrm>
        </p:grpSpPr>
        <p:sp>
          <p:nvSpPr>
            <p:cNvPr name="Freeform 4" id="4"/>
            <p:cNvSpPr/>
            <p:nvPr/>
          </p:nvSpPr>
          <p:spPr>
            <a:xfrm flipH="false" flipV="false" rot="0">
              <a:off x="0" y="0"/>
              <a:ext cx="3179454" cy="2709333"/>
            </a:xfrm>
            <a:custGeom>
              <a:avLst/>
              <a:gdLst/>
              <a:ahLst/>
              <a:cxnLst/>
              <a:rect r="r" b="b" t="t" l="l"/>
              <a:pathLst>
                <a:path h="2709333" w="3179454">
                  <a:moveTo>
                    <a:pt x="0" y="0"/>
                  </a:moveTo>
                  <a:lnTo>
                    <a:pt x="3179454" y="0"/>
                  </a:lnTo>
                  <a:lnTo>
                    <a:pt x="3179454"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3179454" cy="2728383"/>
            </a:xfrm>
            <a:prstGeom prst="rect">
              <a:avLst/>
            </a:prstGeom>
          </p:spPr>
          <p:txBody>
            <a:bodyPr anchor="ctr" rtlCol="false" tIns="50800" lIns="50800" bIns="50800" rIns="50800"/>
            <a:lstStyle/>
            <a:p>
              <a:pPr algn="ctr">
                <a:lnSpc>
                  <a:spcPts val="2898"/>
                </a:lnSpc>
              </a:pPr>
            </a:p>
          </p:txBody>
        </p:sp>
      </p:grpSp>
      <p:grpSp>
        <p:nvGrpSpPr>
          <p:cNvPr name="Group 6" id="6"/>
          <p:cNvGrpSpPr/>
          <p:nvPr/>
        </p:nvGrpSpPr>
        <p:grpSpPr>
          <a:xfrm rot="0">
            <a:off x="4306077" y="7443744"/>
            <a:ext cx="5290838" cy="840036"/>
            <a:chOff x="0" y="0"/>
            <a:chExt cx="2559647" cy="406400"/>
          </a:xfrm>
        </p:grpSpPr>
        <p:sp>
          <p:nvSpPr>
            <p:cNvPr name="Freeform 7" id="7"/>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37596" y="7443744"/>
            <a:ext cx="3483091" cy="840036"/>
            <a:chOff x="0" y="0"/>
            <a:chExt cx="1685080" cy="406400"/>
          </a:xfrm>
        </p:grpSpPr>
        <p:sp>
          <p:nvSpPr>
            <p:cNvPr name="Freeform 10" id="10"/>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759952" y="7835633"/>
            <a:ext cx="4836963" cy="846468"/>
          </a:xfrm>
          <a:custGeom>
            <a:avLst/>
            <a:gdLst/>
            <a:ahLst/>
            <a:cxnLst/>
            <a:rect r="r" b="b" t="t" l="l"/>
            <a:pathLst>
              <a:path h="846468" w="4836963">
                <a:moveTo>
                  <a:pt x="0" y="0"/>
                </a:moveTo>
                <a:lnTo>
                  <a:pt x="4836962" y="0"/>
                </a:lnTo>
                <a:lnTo>
                  <a:pt x="4836962" y="846469"/>
                </a:lnTo>
                <a:lnTo>
                  <a:pt x="0" y="846469"/>
                </a:lnTo>
                <a:lnTo>
                  <a:pt x="0" y="0"/>
                </a:lnTo>
                <a:close/>
              </a:path>
            </a:pathLst>
          </a:custGeom>
          <a:blipFill>
            <a:blip r:embed="rId6"/>
            <a:stretch>
              <a:fillRect l="0" t="0" r="0" b="0"/>
            </a:stretch>
          </a:blipFill>
        </p:spPr>
      </p:sp>
      <p:sp>
        <p:nvSpPr>
          <p:cNvPr name="Freeform 14" id="14"/>
          <p:cNvSpPr/>
          <p:nvPr/>
        </p:nvSpPr>
        <p:spPr>
          <a:xfrm flipH="false" flipV="false" rot="0">
            <a:off x="1720422" y="7177785"/>
            <a:ext cx="3039530" cy="531918"/>
          </a:xfrm>
          <a:custGeom>
            <a:avLst/>
            <a:gdLst/>
            <a:ahLst/>
            <a:cxnLst/>
            <a:rect r="r" b="b" t="t" l="l"/>
            <a:pathLst>
              <a:path h="531918" w="3039530">
                <a:moveTo>
                  <a:pt x="0" y="0"/>
                </a:moveTo>
                <a:lnTo>
                  <a:pt x="3039530" y="0"/>
                </a:lnTo>
                <a:lnTo>
                  <a:pt x="3039530" y="531917"/>
                </a:lnTo>
                <a:lnTo>
                  <a:pt x="0" y="531917"/>
                </a:lnTo>
                <a:lnTo>
                  <a:pt x="0" y="0"/>
                </a:lnTo>
                <a:close/>
              </a:path>
            </a:pathLst>
          </a:custGeom>
          <a:blipFill>
            <a:blip r:embed="rId6"/>
            <a:stretch>
              <a:fillRect l="0" t="0" r="0" b="0"/>
            </a:stretch>
          </a:blipFill>
        </p:spPr>
      </p:sp>
      <p:sp>
        <p:nvSpPr>
          <p:cNvPr name="TextBox 15" id="15"/>
          <p:cNvSpPr txBox="true"/>
          <p:nvPr/>
        </p:nvSpPr>
        <p:spPr>
          <a:xfrm rot="0">
            <a:off x="1437596" y="3195804"/>
            <a:ext cx="8994395" cy="1370815"/>
          </a:xfrm>
          <a:prstGeom prst="rect">
            <a:avLst/>
          </a:prstGeom>
        </p:spPr>
        <p:txBody>
          <a:bodyPr anchor="t" rtlCol="false" tIns="0" lIns="0" bIns="0" rIns="0">
            <a:spAutoFit/>
          </a:bodyPr>
          <a:lstStyle/>
          <a:p>
            <a:pPr algn="l">
              <a:lnSpc>
                <a:spcPts val="11235"/>
              </a:lnSpc>
              <a:spcBef>
                <a:spcPct val="0"/>
              </a:spcBef>
            </a:pPr>
            <a:r>
              <a:rPr lang="en-US" sz="8025" b="true">
                <a:solidFill>
                  <a:srgbClr val="FFFFFF"/>
                </a:solidFill>
                <a:latin typeface="Montaser Arabic Ultra-Bold"/>
                <a:ea typeface="Montaser Arabic Ultra-Bold"/>
                <a:cs typeface="Montaser Arabic Ultra-Bold"/>
                <a:sym typeface="Montaser Arabic Ultra-Bold"/>
              </a:rPr>
              <a:t>Projet </a:t>
            </a:r>
          </a:p>
        </p:txBody>
      </p:sp>
      <p:sp>
        <p:nvSpPr>
          <p:cNvPr name="TextBox 16" id="16"/>
          <p:cNvSpPr txBox="true"/>
          <p:nvPr/>
        </p:nvSpPr>
        <p:spPr>
          <a:xfrm rot="0">
            <a:off x="1437596" y="4173111"/>
            <a:ext cx="6882574" cy="1370815"/>
          </a:xfrm>
          <a:prstGeom prst="rect">
            <a:avLst/>
          </a:prstGeom>
        </p:spPr>
        <p:txBody>
          <a:bodyPr anchor="t" rtlCol="false" tIns="0" lIns="0" bIns="0" rIns="0">
            <a:spAutoFit/>
          </a:bodyPr>
          <a:lstStyle/>
          <a:p>
            <a:pPr algn="l">
              <a:lnSpc>
                <a:spcPts val="11235"/>
              </a:lnSpc>
              <a:spcBef>
                <a:spcPct val="0"/>
              </a:spcBef>
            </a:pPr>
            <a:r>
              <a:rPr lang="en-US" sz="8025" b="true">
                <a:solidFill>
                  <a:srgbClr val="FFFFFF"/>
                </a:solidFill>
                <a:latin typeface="Montaser Arabic Ultra-Bold"/>
                <a:ea typeface="Montaser Arabic Ultra-Bold"/>
                <a:cs typeface="Montaser Arabic Ultra-Bold"/>
                <a:sym typeface="Montaser Arabic Ultra-Bold"/>
              </a:rPr>
              <a:t>ML_RETAIL</a:t>
            </a:r>
          </a:p>
        </p:txBody>
      </p:sp>
      <p:sp>
        <p:nvSpPr>
          <p:cNvPr name="TextBox 17" id="17"/>
          <p:cNvSpPr txBox="true"/>
          <p:nvPr/>
        </p:nvSpPr>
        <p:spPr>
          <a:xfrm rot="0">
            <a:off x="1437596" y="5778298"/>
            <a:ext cx="4605107" cy="870865"/>
          </a:xfrm>
          <a:prstGeom prst="rect">
            <a:avLst/>
          </a:prstGeom>
        </p:spPr>
        <p:txBody>
          <a:bodyPr anchor="t" rtlCol="false" tIns="0" lIns="0" bIns="0" rIns="0">
            <a:spAutoFit/>
          </a:bodyPr>
          <a:lstStyle/>
          <a:p>
            <a:pPr algn="l">
              <a:lnSpc>
                <a:spcPts val="3481"/>
              </a:lnSpc>
            </a:pPr>
            <a:r>
              <a:rPr lang="en-US" sz="2677">
                <a:solidFill>
                  <a:srgbClr val="FFFFFF"/>
                </a:solidFill>
                <a:latin typeface="Montserrat"/>
                <a:ea typeface="Montserrat"/>
                <a:cs typeface="Montserrat"/>
                <a:sym typeface="Montserrat"/>
              </a:rPr>
              <a:t>Atelier Pratique : E-commerce de Cadeaux</a:t>
            </a:r>
          </a:p>
        </p:txBody>
      </p:sp>
      <p:sp>
        <p:nvSpPr>
          <p:cNvPr name="TextBox 18" id="18"/>
          <p:cNvSpPr txBox="true"/>
          <p:nvPr/>
        </p:nvSpPr>
        <p:spPr>
          <a:xfrm rot="0">
            <a:off x="1519332" y="7628828"/>
            <a:ext cx="3324699" cy="441293"/>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Présenté par:</a:t>
            </a:r>
          </a:p>
        </p:txBody>
      </p:sp>
      <p:sp>
        <p:nvSpPr>
          <p:cNvPr name="TextBox 19" id="19"/>
          <p:cNvSpPr txBox="true"/>
          <p:nvPr/>
        </p:nvSpPr>
        <p:spPr>
          <a:xfrm rot="0">
            <a:off x="5258898" y="7628828"/>
            <a:ext cx="4161789" cy="441293"/>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Emna Kaaniche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474422" y="4084647"/>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1387259" y="2700477"/>
            <a:ext cx="5275634" cy="4529879"/>
            <a:chOff x="0" y="0"/>
            <a:chExt cx="896585" cy="769845"/>
          </a:xfrm>
        </p:grpSpPr>
        <p:sp>
          <p:nvSpPr>
            <p:cNvPr name="Freeform 7" id="7"/>
            <p:cNvSpPr/>
            <p:nvPr/>
          </p:nvSpPr>
          <p:spPr>
            <a:xfrm flipH="false" flipV="false" rot="0">
              <a:off x="0" y="0"/>
              <a:ext cx="896585" cy="769845"/>
            </a:xfrm>
            <a:custGeom>
              <a:avLst/>
              <a:gdLst/>
              <a:ahLst/>
              <a:cxnLst/>
              <a:rect r="r" b="b" t="t" l="l"/>
              <a:pathLst>
                <a:path h="769845" w="896585">
                  <a:moveTo>
                    <a:pt x="82179" y="0"/>
                  </a:moveTo>
                  <a:lnTo>
                    <a:pt x="814405" y="0"/>
                  </a:lnTo>
                  <a:cubicBezTo>
                    <a:pt x="836201" y="0"/>
                    <a:pt x="857103" y="8658"/>
                    <a:pt x="872515" y="24070"/>
                  </a:cubicBezTo>
                  <a:cubicBezTo>
                    <a:pt x="887926" y="39481"/>
                    <a:pt x="896585" y="60384"/>
                    <a:pt x="896585" y="82179"/>
                  </a:cubicBezTo>
                  <a:lnTo>
                    <a:pt x="896585" y="687666"/>
                  </a:lnTo>
                  <a:cubicBezTo>
                    <a:pt x="896585" y="733052"/>
                    <a:pt x="859792" y="769845"/>
                    <a:pt x="814405" y="769845"/>
                  </a:cubicBezTo>
                  <a:lnTo>
                    <a:pt x="82179" y="769845"/>
                  </a:lnTo>
                  <a:cubicBezTo>
                    <a:pt x="36793" y="769845"/>
                    <a:pt x="0" y="733052"/>
                    <a:pt x="0" y="687666"/>
                  </a:cubicBezTo>
                  <a:lnTo>
                    <a:pt x="0" y="82179"/>
                  </a:lnTo>
                  <a:cubicBezTo>
                    <a:pt x="0" y="36793"/>
                    <a:pt x="36793" y="0"/>
                    <a:pt x="82179" y="0"/>
                  </a:cubicBezTo>
                  <a:close/>
                </a:path>
              </a:pathLst>
            </a:custGeom>
            <a:blipFill>
              <a:blip r:embed="rId6"/>
              <a:stretch>
                <a:fillRect l="-6120" t="0" r="-6120" b="0"/>
              </a:stretch>
            </a:blipFill>
          </p:spPr>
        </p:sp>
      </p:grpSp>
      <p:grpSp>
        <p:nvGrpSpPr>
          <p:cNvPr name="Group 8" id="8"/>
          <p:cNvGrpSpPr/>
          <p:nvPr/>
        </p:nvGrpSpPr>
        <p:grpSpPr>
          <a:xfrm rot="0">
            <a:off x="10744755" y="5520309"/>
            <a:ext cx="4299005" cy="2983601"/>
            <a:chOff x="0" y="0"/>
            <a:chExt cx="999406" cy="693609"/>
          </a:xfrm>
        </p:grpSpPr>
        <p:sp>
          <p:nvSpPr>
            <p:cNvPr name="Freeform 9" id="9"/>
            <p:cNvSpPr/>
            <p:nvPr/>
          </p:nvSpPr>
          <p:spPr>
            <a:xfrm flipH="false" flipV="false" rot="0">
              <a:off x="0" y="0"/>
              <a:ext cx="999406" cy="693609"/>
            </a:xfrm>
            <a:custGeom>
              <a:avLst/>
              <a:gdLst/>
              <a:ahLst/>
              <a:cxnLst/>
              <a:rect r="r" b="b" t="t" l="l"/>
              <a:pathLst>
                <a:path h="693609" w="999406">
                  <a:moveTo>
                    <a:pt x="100848" y="0"/>
                  </a:moveTo>
                  <a:lnTo>
                    <a:pt x="898558" y="0"/>
                  </a:lnTo>
                  <a:cubicBezTo>
                    <a:pt x="954255" y="0"/>
                    <a:pt x="999406" y="45151"/>
                    <a:pt x="999406" y="100848"/>
                  </a:cubicBezTo>
                  <a:lnTo>
                    <a:pt x="999406" y="592761"/>
                  </a:lnTo>
                  <a:cubicBezTo>
                    <a:pt x="999406" y="648458"/>
                    <a:pt x="954255" y="693609"/>
                    <a:pt x="898558" y="693609"/>
                  </a:cubicBezTo>
                  <a:lnTo>
                    <a:pt x="100848" y="693609"/>
                  </a:lnTo>
                  <a:cubicBezTo>
                    <a:pt x="45151" y="693609"/>
                    <a:pt x="0" y="648458"/>
                    <a:pt x="0" y="592761"/>
                  </a:cubicBezTo>
                  <a:lnTo>
                    <a:pt x="0" y="100848"/>
                  </a:lnTo>
                  <a:cubicBezTo>
                    <a:pt x="0" y="45151"/>
                    <a:pt x="45151" y="0"/>
                    <a:pt x="100848" y="0"/>
                  </a:cubicBezTo>
                  <a:close/>
                </a:path>
              </a:pathLst>
            </a:custGeom>
            <a:blipFill>
              <a:blip r:embed="rId7"/>
              <a:stretch>
                <a:fillRect l="-85367" t="-33359" r="0" b="-44589"/>
              </a:stretch>
            </a:blipFill>
          </p:spPr>
        </p:sp>
      </p:grpSp>
      <p:sp>
        <p:nvSpPr>
          <p:cNvPr name="TextBox 10" id="10"/>
          <p:cNvSpPr txBox="true"/>
          <p:nvPr/>
        </p:nvSpPr>
        <p:spPr>
          <a:xfrm rot="0">
            <a:off x="1437596" y="2744223"/>
            <a:ext cx="7706404"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Nos Enjeux Métiers</a:t>
            </a:r>
          </a:p>
        </p:txBody>
      </p:sp>
      <p:sp>
        <p:nvSpPr>
          <p:cNvPr name="TextBox 11" id="11"/>
          <p:cNvSpPr txBox="true"/>
          <p:nvPr/>
        </p:nvSpPr>
        <p:spPr>
          <a:xfrm rot="0">
            <a:off x="2311437" y="5332079"/>
            <a:ext cx="7187919" cy="715010"/>
          </a:xfrm>
          <a:prstGeom prst="rect">
            <a:avLst/>
          </a:prstGeom>
        </p:spPr>
        <p:txBody>
          <a:bodyPr anchor="t" rtlCol="false" tIns="0" lIns="0" bIns="0" rIns="0">
            <a:spAutoFit/>
          </a:bodyPr>
          <a:lstStyle/>
          <a:p>
            <a:pPr algn="just">
              <a:lnSpc>
                <a:spcPts val="2859"/>
              </a:lnSpc>
            </a:pPr>
            <a:r>
              <a:rPr lang="en-US" sz="2199">
                <a:solidFill>
                  <a:srgbClr val="FFFFFF"/>
                </a:solidFill>
                <a:latin typeface="Montserrat"/>
                <a:ea typeface="Montserrat"/>
                <a:cs typeface="Montserrat"/>
                <a:sym typeface="Montserrat"/>
              </a:rPr>
              <a:t>Personnalisation : Finir les campagnes génériques ; envoyer le bon cadeau au bon moment.</a:t>
            </a:r>
          </a:p>
        </p:txBody>
      </p:sp>
      <p:sp>
        <p:nvSpPr>
          <p:cNvPr name="TextBox 12" id="12"/>
          <p:cNvSpPr txBox="true"/>
          <p:nvPr/>
        </p:nvSpPr>
        <p:spPr>
          <a:xfrm rot="0">
            <a:off x="1437596" y="3612396"/>
            <a:ext cx="7706404" cy="1271735"/>
          </a:xfrm>
          <a:prstGeom prst="rect">
            <a:avLst/>
          </a:prstGeom>
        </p:spPr>
        <p:txBody>
          <a:bodyPr anchor="t" rtlCol="false" tIns="0" lIns="0" bIns="0" rIns="0">
            <a:spAutoFit/>
          </a:bodyPr>
          <a:lstStyle/>
          <a:p>
            <a:pPr algn="just">
              <a:lnSpc>
                <a:spcPts val="3397"/>
              </a:lnSpc>
            </a:pPr>
            <a:r>
              <a:rPr lang="en-US" sz="2613" b="true">
                <a:solidFill>
                  <a:srgbClr val="04E1F9"/>
                </a:solidFill>
                <a:latin typeface="Montserrat Bold"/>
                <a:ea typeface="Montserrat Bold"/>
                <a:cs typeface="Montserrat Bold"/>
                <a:sym typeface="Montserrat Bold"/>
              </a:rPr>
              <a:t>Objectif : Passer d'une approche de masse à une stratégie </a:t>
            </a:r>
          </a:p>
          <a:p>
            <a:pPr algn="just">
              <a:lnSpc>
                <a:spcPts val="3397"/>
              </a:lnSpc>
            </a:pPr>
          </a:p>
        </p:txBody>
      </p:sp>
      <p:sp>
        <p:nvSpPr>
          <p:cNvPr name="TextBox 13" id="13"/>
          <p:cNvSpPr txBox="true"/>
          <p:nvPr/>
        </p:nvSpPr>
        <p:spPr>
          <a:xfrm rot="0">
            <a:off x="1437596" y="5419958"/>
            <a:ext cx="809360" cy="529727"/>
          </a:xfrm>
          <a:prstGeom prst="rect">
            <a:avLst/>
          </a:prstGeom>
        </p:spPr>
        <p:txBody>
          <a:bodyPr anchor="t" rtlCol="false" tIns="0" lIns="0" bIns="0" rIns="0">
            <a:spAutoFit/>
          </a:bodyPr>
          <a:lstStyle/>
          <a:p>
            <a:pPr algn="just">
              <a:lnSpc>
                <a:spcPts val="4275"/>
              </a:lnSpc>
            </a:pPr>
            <a:r>
              <a:rPr lang="en-US" sz="3289" b="true">
                <a:solidFill>
                  <a:srgbClr val="04E1F9"/>
                </a:solidFill>
                <a:latin typeface="Montserrat Bold"/>
                <a:ea typeface="Montserrat Bold"/>
                <a:cs typeface="Montserrat Bold"/>
                <a:sym typeface="Montserrat Bold"/>
              </a:rPr>
              <a:t>01</a:t>
            </a:r>
          </a:p>
        </p:txBody>
      </p:sp>
      <p:sp>
        <p:nvSpPr>
          <p:cNvPr name="TextBox 14" id="14"/>
          <p:cNvSpPr txBox="true"/>
          <p:nvPr/>
        </p:nvSpPr>
        <p:spPr>
          <a:xfrm rot="0">
            <a:off x="2375917" y="6317014"/>
            <a:ext cx="7187919" cy="1076960"/>
          </a:xfrm>
          <a:prstGeom prst="rect">
            <a:avLst/>
          </a:prstGeom>
        </p:spPr>
        <p:txBody>
          <a:bodyPr anchor="t" rtlCol="false" tIns="0" lIns="0" bIns="0" rIns="0">
            <a:spAutoFit/>
          </a:bodyPr>
          <a:lstStyle/>
          <a:p>
            <a:pPr algn="just">
              <a:lnSpc>
                <a:spcPts val="2859"/>
              </a:lnSpc>
            </a:pPr>
            <a:r>
              <a:rPr lang="en-US" sz="2199">
                <a:solidFill>
                  <a:srgbClr val="FFFFFF"/>
                </a:solidFill>
                <a:latin typeface="Montserrat"/>
                <a:ea typeface="Montserrat"/>
                <a:cs typeface="Montserrat"/>
                <a:sym typeface="Montserrat"/>
              </a:rPr>
              <a:t>Rétention (Anti-Churn) : Identifier les signaux faibles pour retenir les clients avant qu'ils ne partent.</a:t>
            </a:r>
          </a:p>
        </p:txBody>
      </p:sp>
      <p:sp>
        <p:nvSpPr>
          <p:cNvPr name="TextBox 15" id="15"/>
          <p:cNvSpPr txBox="true"/>
          <p:nvPr/>
        </p:nvSpPr>
        <p:spPr>
          <a:xfrm rot="0">
            <a:off x="1502076" y="6585868"/>
            <a:ext cx="809360" cy="529727"/>
          </a:xfrm>
          <a:prstGeom prst="rect">
            <a:avLst/>
          </a:prstGeom>
        </p:spPr>
        <p:txBody>
          <a:bodyPr anchor="t" rtlCol="false" tIns="0" lIns="0" bIns="0" rIns="0">
            <a:spAutoFit/>
          </a:bodyPr>
          <a:lstStyle/>
          <a:p>
            <a:pPr algn="just">
              <a:lnSpc>
                <a:spcPts val="4275"/>
              </a:lnSpc>
            </a:pPr>
            <a:r>
              <a:rPr lang="en-US" sz="3289" b="true">
                <a:solidFill>
                  <a:srgbClr val="04E1F9"/>
                </a:solidFill>
                <a:latin typeface="Montserrat Bold"/>
                <a:ea typeface="Montserrat Bold"/>
                <a:cs typeface="Montserrat Bold"/>
                <a:sym typeface="Montserrat Bold"/>
              </a:rPr>
              <a:t>02</a:t>
            </a:r>
          </a:p>
        </p:txBody>
      </p:sp>
      <p:sp>
        <p:nvSpPr>
          <p:cNvPr name="TextBox 16" id="16"/>
          <p:cNvSpPr txBox="true"/>
          <p:nvPr/>
        </p:nvSpPr>
        <p:spPr>
          <a:xfrm rot="0">
            <a:off x="2311437" y="7709059"/>
            <a:ext cx="7187919" cy="715010"/>
          </a:xfrm>
          <a:prstGeom prst="rect">
            <a:avLst/>
          </a:prstGeom>
        </p:spPr>
        <p:txBody>
          <a:bodyPr anchor="t" rtlCol="false" tIns="0" lIns="0" bIns="0" rIns="0">
            <a:spAutoFit/>
          </a:bodyPr>
          <a:lstStyle/>
          <a:p>
            <a:pPr algn="just">
              <a:lnSpc>
                <a:spcPts val="2859"/>
              </a:lnSpc>
            </a:pPr>
            <a:r>
              <a:rPr lang="en-US" sz="2199">
                <a:solidFill>
                  <a:srgbClr val="FFFFFF"/>
                </a:solidFill>
                <a:latin typeface="Montserrat"/>
                <a:ea typeface="Montserrat"/>
                <a:cs typeface="Montserrat"/>
                <a:sym typeface="Montserrat"/>
              </a:rPr>
              <a:t>Croissance : Maximiser la valeur vie client (LTV) et optimiser le Chiffre d'Affaires.</a:t>
            </a:r>
          </a:p>
        </p:txBody>
      </p:sp>
      <p:sp>
        <p:nvSpPr>
          <p:cNvPr name="TextBox 17" id="17"/>
          <p:cNvSpPr txBox="true"/>
          <p:nvPr/>
        </p:nvSpPr>
        <p:spPr>
          <a:xfrm rot="0">
            <a:off x="1435401" y="7796937"/>
            <a:ext cx="809360" cy="529727"/>
          </a:xfrm>
          <a:prstGeom prst="rect">
            <a:avLst/>
          </a:prstGeom>
        </p:spPr>
        <p:txBody>
          <a:bodyPr anchor="t" rtlCol="false" tIns="0" lIns="0" bIns="0" rIns="0">
            <a:spAutoFit/>
          </a:bodyPr>
          <a:lstStyle/>
          <a:p>
            <a:pPr algn="just">
              <a:lnSpc>
                <a:spcPts val="4275"/>
              </a:lnSpc>
            </a:pPr>
            <a:r>
              <a:rPr lang="en-US" sz="3289" b="true">
                <a:solidFill>
                  <a:srgbClr val="04E1F9"/>
                </a:solidFill>
                <a:latin typeface="Montserrat Bold"/>
                <a:ea typeface="Montserrat Bold"/>
                <a:cs typeface="Montserrat Bold"/>
                <a:sym typeface="Montserrat Bold"/>
              </a:rPr>
              <a:t>03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grpSp>
        <p:nvGrpSpPr>
          <p:cNvPr name="Group 3" id="3"/>
          <p:cNvGrpSpPr/>
          <p:nvPr/>
        </p:nvGrpSpPr>
        <p:grpSpPr>
          <a:xfrm rot="0">
            <a:off x="1460925" y="5049933"/>
            <a:ext cx="12521760" cy="586480"/>
            <a:chOff x="0" y="0"/>
            <a:chExt cx="8676919" cy="406400"/>
          </a:xfrm>
        </p:grpSpPr>
        <p:sp>
          <p:nvSpPr>
            <p:cNvPr name="Freeform 4" id="4"/>
            <p:cNvSpPr/>
            <p:nvPr/>
          </p:nvSpPr>
          <p:spPr>
            <a:xfrm flipH="false" flipV="false" rot="0">
              <a:off x="0" y="0"/>
              <a:ext cx="8676919" cy="406400"/>
            </a:xfrm>
            <a:custGeom>
              <a:avLst/>
              <a:gdLst/>
              <a:ahLst/>
              <a:cxnLst/>
              <a:rect r="r" b="b" t="t" l="l"/>
              <a:pathLst>
                <a:path h="406400" w="8676919">
                  <a:moveTo>
                    <a:pt x="8473719" y="0"/>
                  </a:moveTo>
                  <a:cubicBezTo>
                    <a:pt x="8585943" y="0"/>
                    <a:pt x="8676919" y="90976"/>
                    <a:pt x="8676919" y="203200"/>
                  </a:cubicBezTo>
                  <a:cubicBezTo>
                    <a:pt x="8676919" y="315424"/>
                    <a:pt x="8585943" y="406400"/>
                    <a:pt x="847371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5" id="5"/>
            <p:cNvSpPr txBox="true"/>
            <p:nvPr/>
          </p:nvSpPr>
          <p:spPr>
            <a:xfrm>
              <a:off x="0" y="-38100"/>
              <a:ext cx="8676919"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60925" y="5785675"/>
            <a:ext cx="12521760" cy="586480"/>
            <a:chOff x="0" y="0"/>
            <a:chExt cx="8676919" cy="406400"/>
          </a:xfrm>
        </p:grpSpPr>
        <p:sp>
          <p:nvSpPr>
            <p:cNvPr name="Freeform 7" id="7"/>
            <p:cNvSpPr/>
            <p:nvPr/>
          </p:nvSpPr>
          <p:spPr>
            <a:xfrm flipH="false" flipV="false" rot="0">
              <a:off x="0" y="0"/>
              <a:ext cx="8676919" cy="406400"/>
            </a:xfrm>
            <a:custGeom>
              <a:avLst/>
              <a:gdLst/>
              <a:ahLst/>
              <a:cxnLst/>
              <a:rect r="r" b="b" t="t" l="l"/>
              <a:pathLst>
                <a:path h="406400" w="8676919">
                  <a:moveTo>
                    <a:pt x="8473719" y="0"/>
                  </a:moveTo>
                  <a:cubicBezTo>
                    <a:pt x="8585943" y="0"/>
                    <a:pt x="8676919" y="90976"/>
                    <a:pt x="8676919" y="203200"/>
                  </a:cubicBezTo>
                  <a:cubicBezTo>
                    <a:pt x="8676919" y="315424"/>
                    <a:pt x="8585943" y="406400"/>
                    <a:pt x="847371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8676919"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60925" y="6521418"/>
            <a:ext cx="12521760" cy="586480"/>
            <a:chOff x="0" y="0"/>
            <a:chExt cx="8676919" cy="406400"/>
          </a:xfrm>
        </p:grpSpPr>
        <p:sp>
          <p:nvSpPr>
            <p:cNvPr name="Freeform 10" id="10"/>
            <p:cNvSpPr/>
            <p:nvPr/>
          </p:nvSpPr>
          <p:spPr>
            <a:xfrm flipH="false" flipV="false" rot="0">
              <a:off x="0" y="0"/>
              <a:ext cx="8676919" cy="406400"/>
            </a:xfrm>
            <a:custGeom>
              <a:avLst/>
              <a:gdLst/>
              <a:ahLst/>
              <a:cxnLst/>
              <a:rect r="r" b="b" t="t" l="l"/>
              <a:pathLst>
                <a:path h="406400" w="8676919">
                  <a:moveTo>
                    <a:pt x="8473719" y="0"/>
                  </a:moveTo>
                  <a:cubicBezTo>
                    <a:pt x="8585943" y="0"/>
                    <a:pt x="8676919" y="90976"/>
                    <a:pt x="8676919" y="203200"/>
                  </a:cubicBezTo>
                  <a:cubicBezTo>
                    <a:pt x="8676919" y="315424"/>
                    <a:pt x="8585943" y="406400"/>
                    <a:pt x="847371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8676919"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669397" y="5185880"/>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669397" y="5940139"/>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69397" y="6694398"/>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460925" y="2603944"/>
            <a:ext cx="9945433"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Architecture de la Solution ML</a:t>
            </a:r>
          </a:p>
        </p:txBody>
      </p:sp>
      <p:sp>
        <p:nvSpPr>
          <p:cNvPr name="TextBox 18" id="18"/>
          <p:cNvSpPr txBox="true"/>
          <p:nvPr/>
        </p:nvSpPr>
        <p:spPr>
          <a:xfrm rot="0">
            <a:off x="1460925" y="3472117"/>
            <a:ext cx="9945433" cy="843110"/>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Une double approche complémentaire : Non-Supervisée et Superviséede la Solution ML</a:t>
            </a:r>
          </a:p>
        </p:txBody>
      </p:sp>
      <p:sp>
        <p:nvSpPr>
          <p:cNvPr name="Freeform 19" id="19"/>
          <p:cNvSpPr/>
          <p:nvPr/>
        </p:nvSpPr>
        <p:spPr>
          <a:xfrm flipH="false" flipV="false" rot="0">
            <a:off x="3980975" y="6684664"/>
            <a:ext cx="4836963" cy="846468"/>
          </a:xfrm>
          <a:custGeom>
            <a:avLst/>
            <a:gdLst/>
            <a:ahLst/>
            <a:cxnLst/>
            <a:rect r="r" b="b" t="t" l="l"/>
            <a:pathLst>
              <a:path h="846468" w="4836963">
                <a:moveTo>
                  <a:pt x="0" y="0"/>
                </a:moveTo>
                <a:lnTo>
                  <a:pt x="4836963" y="0"/>
                </a:lnTo>
                <a:lnTo>
                  <a:pt x="4836963" y="846469"/>
                </a:lnTo>
                <a:lnTo>
                  <a:pt x="0" y="846469"/>
                </a:lnTo>
                <a:lnTo>
                  <a:pt x="0" y="0"/>
                </a:lnTo>
                <a:close/>
              </a:path>
            </a:pathLst>
          </a:custGeom>
          <a:blipFill>
            <a:blip r:embed="rId8"/>
            <a:stretch>
              <a:fillRect l="0" t="0" r="0" b="0"/>
            </a:stretch>
          </a:blipFill>
        </p:spPr>
      </p:sp>
      <p:sp>
        <p:nvSpPr>
          <p:cNvPr name="Freeform 20" id="20"/>
          <p:cNvSpPr/>
          <p:nvPr/>
        </p:nvSpPr>
        <p:spPr>
          <a:xfrm flipH="false" flipV="false" rot="0">
            <a:off x="1460925" y="4624882"/>
            <a:ext cx="4836963" cy="846468"/>
          </a:xfrm>
          <a:custGeom>
            <a:avLst/>
            <a:gdLst/>
            <a:ahLst/>
            <a:cxnLst/>
            <a:rect r="r" b="b" t="t" l="l"/>
            <a:pathLst>
              <a:path h="846468" w="4836963">
                <a:moveTo>
                  <a:pt x="0" y="0"/>
                </a:moveTo>
                <a:lnTo>
                  <a:pt x="4836963" y="0"/>
                </a:lnTo>
                <a:lnTo>
                  <a:pt x="4836963" y="846468"/>
                </a:lnTo>
                <a:lnTo>
                  <a:pt x="0" y="846468"/>
                </a:lnTo>
                <a:lnTo>
                  <a:pt x="0" y="0"/>
                </a:lnTo>
                <a:close/>
              </a:path>
            </a:pathLst>
          </a:custGeom>
          <a:blipFill>
            <a:blip r:embed="rId8"/>
            <a:stretch>
              <a:fillRect l="0" t="0" r="0" b="0"/>
            </a:stretch>
          </a:blipFill>
        </p:spPr>
      </p:sp>
      <p:sp>
        <p:nvSpPr>
          <p:cNvPr name="TextBox 21" id="21"/>
          <p:cNvSpPr txBox="true"/>
          <p:nvPr/>
        </p:nvSpPr>
        <p:spPr>
          <a:xfrm rot="0">
            <a:off x="2059931" y="5138788"/>
            <a:ext cx="11277796" cy="380195"/>
          </a:xfrm>
          <a:prstGeom prst="rect">
            <a:avLst/>
          </a:prstGeom>
        </p:spPr>
        <p:txBody>
          <a:bodyPr anchor="t" rtlCol="false" tIns="0" lIns="0" bIns="0" rIns="0">
            <a:spAutoFit/>
          </a:bodyPr>
          <a:lstStyle/>
          <a:p>
            <a:pPr algn="just">
              <a:lnSpc>
                <a:spcPts val="3007"/>
              </a:lnSpc>
            </a:pPr>
            <a:r>
              <a:rPr lang="en-US" sz="2313">
                <a:solidFill>
                  <a:srgbClr val="FFFFFF"/>
                </a:solidFill>
                <a:latin typeface="Montserrat"/>
                <a:ea typeface="Montserrat"/>
                <a:cs typeface="Montserrat"/>
                <a:sym typeface="Montserrat"/>
              </a:rPr>
              <a:t>Réduire le taux de départ (Churn) → Classification (Random Forest )</a:t>
            </a:r>
          </a:p>
        </p:txBody>
      </p:sp>
      <p:sp>
        <p:nvSpPr>
          <p:cNvPr name="TextBox 22" id="22"/>
          <p:cNvSpPr txBox="true"/>
          <p:nvPr/>
        </p:nvSpPr>
        <p:spPr>
          <a:xfrm rot="0">
            <a:off x="2059931" y="5874531"/>
            <a:ext cx="11277796" cy="380195"/>
          </a:xfrm>
          <a:prstGeom prst="rect">
            <a:avLst/>
          </a:prstGeom>
        </p:spPr>
        <p:txBody>
          <a:bodyPr anchor="t" rtlCol="false" tIns="0" lIns="0" bIns="0" rIns="0">
            <a:spAutoFit/>
          </a:bodyPr>
          <a:lstStyle/>
          <a:p>
            <a:pPr algn="just">
              <a:lnSpc>
                <a:spcPts val="3007"/>
              </a:lnSpc>
            </a:pPr>
            <a:r>
              <a:rPr lang="en-US" sz="2313">
                <a:solidFill>
                  <a:srgbClr val="FFFFFF"/>
                </a:solidFill>
                <a:latin typeface="Montserrat"/>
                <a:ea typeface="Montserrat"/>
                <a:cs typeface="Montserrat"/>
                <a:sym typeface="Montserrat"/>
              </a:rPr>
              <a:t>Personnaliser les stratégies marketing →  Clustering (k-Means + ACP)</a:t>
            </a:r>
          </a:p>
        </p:txBody>
      </p:sp>
      <p:sp>
        <p:nvSpPr>
          <p:cNvPr name="TextBox 23" id="23"/>
          <p:cNvSpPr txBox="true"/>
          <p:nvPr/>
        </p:nvSpPr>
        <p:spPr>
          <a:xfrm rot="0">
            <a:off x="2059931" y="6610273"/>
            <a:ext cx="11277796" cy="380195"/>
          </a:xfrm>
          <a:prstGeom prst="rect">
            <a:avLst/>
          </a:prstGeom>
        </p:spPr>
        <p:txBody>
          <a:bodyPr anchor="t" rtlCol="false" tIns="0" lIns="0" bIns="0" rIns="0">
            <a:spAutoFit/>
          </a:bodyPr>
          <a:lstStyle/>
          <a:p>
            <a:pPr algn="just">
              <a:lnSpc>
                <a:spcPts val="3007"/>
              </a:lnSpc>
            </a:pPr>
            <a:r>
              <a:rPr lang="en-US" sz="2313">
                <a:solidFill>
                  <a:srgbClr val="FFFFFF"/>
                </a:solidFill>
                <a:latin typeface="Montserrat"/>
                <a:ea typeface="Montserrat"/>
                <a:cs typeface="Montserrat"/>
                <a:sym typeface="Montserrat"/>
              </a:rPr>
              <a:t>Op</a:t>
            </a:r>
            <a:r>
              <a:rPr lang="en-US" sz="2313">
                <a:solidFill>
                  <a:srgbClr val="FFFFFF"/>
                </a:solidFill>
                <a:latin typeface="Montserrat"/>
                <a:ea typeface="Montserrat"/>
                <a:cs typeface="Montserrat"/>
                <a:sym typeface="Montserrat"/>
              </a:rPr>
              <a:t>timiser le chiffre d'affaires →  Régression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37596" y="5928126"/>
            <a:ext cx="15225297" cy="3050041"/>
            <a:chOff x="0" y="0"/>
            <a:chExt cx="2358797" cy="472531"/>
          </a:xfrm>
        </p:grpSpPr>
        <p:sp>
          <p:nvSpPr>
            <p:cNvPr name="Freeform 5" id="5"/>
            <p:cNvSpPr/>
            <p:nvPr/>
          </p:nvSpPr>
          <p:spPr>
            <a:xfrm flipH="false" flipV="false" rot="0">
              <a:off x="0" y="0"/>
              <a:ext cx="2358797" cy="472531"/>
            </a:xfrm>
            <a:custGeom>
              <a:avLst/>
              <a:gdLst/>
              <a:ahLst/>
              <a:cxnLst/>
              <a:rect r="r" b="b" t="t" l="l"/>
              <a:pathLst>
                <a:path h="472531" w="2358797">
                  <a:moveTo>
                    <a:pt x="17289" y="0"/>
                  </a:moveTo>
                  <a:lnTo>
                    <a:pt x="2341508" y="0"/>
                  </a:lnTo>
                  <a:cubicBezTo>
                    <a:pt x="2346093" y="0"/>
                    <a:pt x="2350491" y="1821"/>
                    <a:pt x="2353733" y="5064"/>
                  </a:cubicBezTo>
                  <a:cubicBezTo>
                    <a:pt x="2356976" y="8306"/>
                    <a:pt x="2358797" y="12703"/>
                    <a:pt x="2358797" y="17289"/>
                  </a:cubicBezTo>
                  <a:lnTo>
                    <a:pt x="2358797" y="455243"/>
                  </a:lnTo>
                  <a:cubicBezTo>
                    <a:pt x="2358797" y="459828"/>
                    <a:pt x="2356976" y="464225"/>
                    <a:pt x="2353733" y="467467"/>
                  </a:cubicBezTo>
                  <a:cubicBezTo>
                    <a:pt x="2350491" y="470710"/>
                    <a:pt x="2346093" y="472531"/>
                    <a:pt x="2341508" y="472531"/>
                  </a:cubicBezTo>
                  <a:lnTo>
                    <a:pt x="17289" y="472531"/>
                  </a:lnTo>
                  <a:cubicBezTo>
                    <a:pt x="12703" y="472531"/>
                    <a:pt x="8306" y="470710"/>
                    <a:pt x="5064" y="467467"/>
                  </a:cubicBezTo>
                  <a:cubicBezTo>
                    <a:pt x="1821" y="464225"/>
                    <a:pt x="0" y="459828"/>
                    <a:pt x="0" y="455243"/>
                  </a:cubicBezTo>
                  <a:lnTo>
                    <a:pt x="0" y="17289"/>
                  </a:lnTo>
                  <a:cubicBezTo>
                    <a:pt x="0" y="12703"/>
                    <a:pt x="1821" y="8306"/>
                    <a:pt x="5064" y="5064"/>
                  </a:cubicBezTo>
                  <a:cubicBezTo>
                    <a:pt x="8306" y="1821"/>
                    <a:pt x="12703" y="0"/>
                    <a:pt x="17289" y="0"/>
                  </a:cubicBezTo>
                  <a:close/>
                </a:path>
              </a:pathLst>
            </a:custGeom>
            <a:blipFill>
              <a:blip r:embed="rId6"/>
              <a:stretch>
                <a:fillRect l="0" t="-11773" r="0" b="-11773"/>
              </a:stretch>
            </a:blipFill>
          </p:spPr>
        </p:sp>
      </p:grpSp>
      <p:sp>
        <p:nvSpPr>
          <p:cNvPr name="Freeform 6" id="6"/>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437596" y="2744223"/>
            <a:ext cx="13202313"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Préparation &amp; Fiabilisation des Données</a:t>
            </a:r>
          </a:p>
        </p:txBody>
      </p:sp>
      <p:sp>
        <p:nvSpPr>
          <p:cNvPr name="TextBox 8" id="8"/>
          <p:cNvSpPr txBox="true"/>
          <p:nvPr/>
        </p:nvSpPr>
        <p:spPr>
          <a:xfrm rot="0">
            <a:off x="1437596" y="4385011"/>
            <a:ext cx="15114428" cy="761238"/>
          </a:xfrm>
          <a:prstGeom prst="rect">
            <a:avLst/>
          </a:prstGeom>
        </p:spPr>
        <p:txBody>
          <a:bodyPr anchor="t" rtlCol="false" tIns="0" lIns="0" bIns="0" rIns="0">
            <a:spAutoFit/>
          </a:bodyPr>
          <a:lstStyle/>
          <a:p>
            <a:pPr algn="just">
              <a:lnSpc>
                <a:spcPts val="3003"/>
              </a:lnSpc>
            </a:pPr>
            <a:r>
              <a:rPr lang="en-US" sz="2310">
                <a:solidFill>
                  <a:srgbClr val="FFFFFF"/>
                </a:solidFill>
                <a:latin typeface="Montserrat"/>
                <a:ea typeface="Montserrat"/>
                <a:cs typeface="Montserrat"/>
                <a:sym typeface="Montserrat"/>
              </a:rPr>
              <a:t>Nous avons mis en place un pipeline automatisé qui transforme les données brutes (52 variables) en un dataset optimisé :</a:t>
            </a:r>
          </a:p>
        </p:txBody>
      </p:sp>
      <p:sp>
        <p:nvSpPr>
          <p:cNvPr name="TextBox 9" id="9"/>
          <p:cNvSpPr txBox="true"/>
          <p:nvPr/>
        </p:nvSpPr>
        <p:spPr>
          <a:xfrm rot="0">
            <a:off x="1437596" y="3612396"/>
            <a:ext cx="9368274"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Transformer le "bruit" en signaux exploitables.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1114265" y="5162016"/>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14265" y="5683620"/>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14265" y="6205223"/>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849169" y="2201298"/>
            <a:ext cx="8213101" cy="6621813"/>
          </a:xfrm>
          <a:custGeom>
            <a:avLst/>
            <a:gdLst/>
            <a:ahLst/>
            <a:cxnLst/>
            <a:rect r="r" b="b" t="t" l="l"/>
            <a:pathLst>
              <a:path h="6621813" w="8213101">
                <a:moveTo>
                  <a:pt x="0" y="0"/>
                </a:moveTo>
                <a:lnTo>
                  <a:pt x="8213101" y="0"/>
                </a:lnTo>
                <a:lnTo>
                  <a:pt x="8213101" y="6621813"/>
                </a:lnTo>
                <a:lnTo>
                  <a:pt x="0" y="6621813"/>
                </a:lnTo>
                <a:lnTo>
                  <a:pt x="0" y="0"/>
                </a:lnTo>
                <a:close/>
              </a:path>
            </a:pathLst>
          </a:custGeom>
          <a:blipFill>
            <a:blip r:embed="rId8"/>
            <a:stretch>
              <a:fillRect l="0" t="-24" r="0" b="-24"/>
            </a:stretch>
          </a:blipFill>
        </p:spPr>
      </p:sp>
      <p:sp>
        <p:nvSpPr>
          <p:cNvPr name="TextBox 9" id="9"/>
          <p:cNvSpPr txBox="true"/>
          <p:nvPr/>
        </p:nvSpPr>
        <p:spPr>
          <a:xfrm rot="0">
            <a:off x="1114265" y="2801359"/>
            <a:ext cx="8225114" cy="1699098"/>
          </a:xfrm>
          <a:prstGeom prst="rect">
            <a:avLst/>
          </a:prstGeom>
        </p:spPr>
        <p:txBody>
          <a:bodyPr anchor="t" rtlCol="false" tIns="0" lIns="0" bIns="0" rIns="0">
            <a:spAutoFit/>
          </a:bodyPr>
          <a:lstStyle/>
          <a:p>
            <a:pPr algn="l">
              <a:lnSpc>
                <a:spcPts val="6864"/>
              </a:lnSpc>
            </a:pPr>
            <a:r>
              <a:rPr lang="en-US" sz="4903" b="true">
                <a:solidFill>
                  <a:srgbClr val="FFFFFF"/>
                </a:solidFill>
                <a:latin typeface="Montaser Arabic Ultra-Bold"/>
                <a:ea typeface="Montaser Arabic Ultra-Bold"/>
                <a:cs typeface="Montaser Arabic Ultra-Bold"/>
                <a:sym typeface="Montaser Arabic Ultra-Bold"/>
              </a:rPr>
              <a:t>Matrice de corrélation</a:t>
            </a:r>
          </a:p>
          <a:p>
            <a:pPr algn="l">
              <a:lnSpc>
                <a:spcPts val="6864"/>
              </a:lnSpc>
              <a:spcBef>
                <a:spcPct val="0"/>
              </a:spcBef>
            </a:pPr>
          </a:p>
        </p:txBody>
      </p:sp>
      <p:sp>
        <p:nvSpPr>
          <p:cNvPr name="TextBox 10" id="10"/>
          <p:cNvSpPr txBox="true"/>
          <p:nvPr/>
        </p:nvSpPr>
        <p:spPr>
          <a:xfrm rot="0">
            <a:off x="1114265" y="3738578"/>
            <a:ext cx="7077050"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Avant nettoyage</a:t>
            </a:r>
          </a:p>
        </p:txBody>
      </p:sp>
      <p:sp>
        <p:nvSpPr>
          <p:cNvPr name="TextBox 11" id="11"/>
          <p:cNvSpPr txBox="true"/>
          <p:nvPr/>
        </p:nvSpPr>
        <p:spPr>
          <a:xfrm rot="0">
            <a:off x="1504800" y="5114925"/>
            <a:ext cx="6797384" cy="380195"/>
          </a:xfrm>
          <a:prstGeom prst="rect">
            <a:avLst/>
          </a:prstGeom>
        </p:spPr>
        <p:txBody>
          <a:bodyPr anchor="t" rtlCol="false" tIns="0" lIns="0" bIns="0" rIns="0">
            <a:spAutoFit/>
          </a:bodyPr>
          <a:lstStyle/>
          <a:p>
            <a:pPr algn="l">
              <a:lnSpc>
                <a:spcPts val="3007"/>
              </a:lnSpc>
            </a:pPr>
            <a:r>
              <a:rPr lang="en-US" sz="2313">
                <a:solidFill>
                  <a:srgbClr val="FFFFFF"/>
                </a:solidFill>
                <a:latin typeface="Montserrat"/>
                <a:ea typeface="Montserrat"/>
                <a:cs typeface="Montserrat"/>
                <a:sym typeface="Montserrat"/>
              </a:rPr>
              <a:t>Forte Multicolinéarité</a:t>
            </a:r>
          </a:p>
        </p:txBody>
      </p:sp>
      <p:sp>
        <p:nvSpPr>
          <p:cNvPr name="TextBox 12" id="12"/>
          <p:cNvSpPr txBox="true"/>
          <p:nvPr/>
        </p:nvSpPr>
        <p:spPr>
          <a:xfrm rot="0">
            <a:off x="1504800" y="5636529"/>
            <a:ext cx="6797384" cy="380195"/>
          </a:xfrm>
          <a:prstGeom prst="rect">
            <a:avLst/>
          </a:prstGeom>
        </p:spPr>
        <p:txBody>
          <a:bodyPr anchor="t" rtlCol="false" tIns="0" lIns="0" bIns="0" rIns="0">
            <a:spAutoFit/>
          </a:bodyPr>
          <a:lstStyle/>
          <a:p>
            <a:pPr algn="l">
              <a:lnSpc>
                <a:spcPts val="3007"/>
              </a:lnSpc>
            </a:pPr>
            <a:r>
              <a:rPr lang="en-US" sz="2313">
                <a:solidFill>
                  <a:srgbClr val="FFFFFF"/>
                </a:solidFill>
                <a:latin typeface="Montserrat"/>
                <a:ea typeface="Montserrat"/>
                <a:cs typeface="Montserrat"/>
                <a:sym typeface="Montserrat"/>
              </a:rPr>
              <a:t>Regroupement de variables RFM </a:t>
            </a:r>
          </a:p>
        </p:txBody>
      </p:sp>
      <p:sp>
        <p:nvSpPr>
          <p:cNvPr name="TextBox 13" id="13"/>
          <p:cNvSpPr txBox="true"/>
          <p:nvPr/>
        </p:nvSpPr>
        <p:spPr>
          <a:xfrm rot="0">
            <a:off x="1504800" y="6158132"/>
            <a:ext cx="6797384" cy="380195"/>
          </a:xfrm>
          <a:prstGeom prst="rect">
            <a:avLst/>
          </a:prstGeom>
        </p:spPr>
        <p:txBody>
          <a:bodyPr anchor="t" rtlCol="false" tIns="0" lIns="0" bIns="0" rIns="0">
            <a:spAutoFit/>
          </a:bodyPr>
          <a:lstStyle/>
          <a:p>
            <a:pPr algn="l">
              <a:lnSpc>
                <a:spcPts val="3007"/>
              </a:lnSpc>
            </a:pPr>
            <a:r>
              <a:rPr lang="en-US" sz="2313">
                <a:solidFill>
                  <a:srgbClr val="FFFFFF"/>
                </a:solidFill>
                <a:latin typeface="Montserrat"/>
                <a:ea typeface="Montserrat"/>
                <a:cs typeface="Montserrat"/>
                <a:sym typeface="Montserrat"/>
              </a:rPr>
              <a:t>Complexité visuelle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9144000" y="5233358"/>
            <a:ext cx="314587" cy="314587"/>
          </a:xfrm>
          <a:custGeom>
            <a:avLst/>
            <a:gdLst/>
            <a:ahLst/>
            <a:cxnLst/>
            <a:rect r="r" b="b" t="t" l="l"/>
            <a:pathLst>
              <a:path h="314587" w="314587">
                <a:moveTo>
                  <a:pt x="0" y="0"/>
                </a:moveTo>
                <a:lnTo>
                  <a:pt x="314587" y="0"/>
                </a:lnTo>
                <a:lnTo>
                  <a:pt x="314587" y="314586"/>
                </a:lnTo>
                <a:lnTo>
                  <a:pt x="0" y="3145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144000" y="5754961"/>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144000" y="6276565"/>
            <a:ext cx="314587" cy="314587"/>
          </a:xfrm>
          <a:custGeom>
            <a:avLst/>
            <a:gdLst/>
            <a:ahLst/>
            <a:cxnLst/>
            <a:rect r="r" b="b" t="t" l="l"/>
            <a:pathLst>
              <a:path h="314587" w="314587">
                <a:moveTo>
                  <a:pt x="0" y="0"/>
                </a:moveTo>
                <a:lnTo>
                  <a:pt x="314587" y="0"/>
                </a:lnTo>
                <a:lnTo>
                  <a:pt x="314587" y="314586"/>
                </a:lnTo>
                <a:lnTo>
                  <a:pt x="0" y="3145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758276" y="1900700"/>
            <a:ext cx="7314991" cy="6821229"/>
          </a:xfrm>
          <a:custGeom>
            <a:avLst/>
            <a:gdLst/>
            <a:ahLst/>
            <a:cxnLst/>
            <a:rect r="r" b="b" t="t" l="l"/>
            <a:pathLst>
              <a:path h="6821229" w="7314991">
                <a:moveTo>
                  <a:pt x="0" y="0"/>
                </a:moveTo>
                <a:lnTo>
                  <a:pt x="7314992" y="0"/>
                </a:lnTo>
                <a:lnTo>
                  <a:pt x="7314992" y="6821230"/>
                </a:lnTo>
                <a:lnTo>
                  <a:pt x="0" y="6821230"/>
                </a:lnTo>
                <a:lnTo>
                  <a:pt x="0" y="0"/>
                </a:lnTo>
                <a:close/>
              </a:path>
            </a:pathLst>
          </a:custGeom>
          <a:blipFill>
            <a:blip r:embed="rId8"/>
            <a:stretch>
              <a:fillRect l="0" t="0" r="0" b="0"/>
            </a:stretch>
          </a:blipFill>
        </p:spPr>
      </p:sp>
      <p:sp>
        <p:nvSpPr>
          <p:cNvPr name="TextBox 9" id="9"/>
          <p:cNvSpPr txBox="true"/>
          <p:nvPr/>
        </p:nvSpPr>
        <p:spPr>
          <a:xfrm rot="0">
            <a:off x="9144000" y="2872700"/>
            <a:ext cx="8225114" cy="1699098"/>
          </a:xfrm>
          <a:prstGeom prst="rect">
            <a:avLst/>
          </a:prstGeom>
        </p:spPr>
        <p:txBody>
          <a:bodyPr anchor="t" rtlCol="false" tIns="0" lIns="0" bIns="0" rIns="0">
            <a:spAutoFit/>
          </a:bodyPr>
          <a:lstStyle/>
          <a:p>
            <a:pPr algn="l">
              <a:lnSpc>
                <a:spcPts val="6864"/>
              </a:lnSpc>
            </a:pPr>
            <a:r>
              <a:rPr lang="en-US" sz="4903" b="true">
                <a:solidFill>
                  <a:srgbClr val="FFFFFF"/>
                </a:solidFill>
                <a:latin typeface="Montaser Arabic Ultra-Bold"/>
                <a:ea typeface="Montaser Arabic Ultra-Bold"/>
                <a:cs typeface="Montaser Arabic Ultra-Bold"/>
                <a:sym typeface="Montaser Arabic Ultra-Bold"/>
              </a:rPr>
              <a:t>Matrice de corrélation</a:t>
            </a:r>
          </a:p>
          <a:p>
            <a:pPr algn="l">
              <a:lnSpc>
                <a:spcPts val="6864"/>
              </a:lnSpc>
              <a:spcBef>
                <a:spcPct val="0"/>
              </a:spcBef>
            </a:pPr>
          </a:p>
        </p:txBody>
      </p:sp>
      <p:sp>
        <p:nvSpPr>
          <p:cNvPr name="TextBox 10" id="10"/>
          <p:cNvSpPr txBox="true"/>
          <p:nvPr/>
        </p:nvSpPr>
        <p:spPr>
          <a:xfrm rot="0">
            <a:off x="9144000" y="3809919"/>
            <a:ext cx="7077050"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Après nettoyage</a:t>
            </a:r>
          </a:p>
        </p:txBody>
      </p:sp>
      <p:sp>
        <p:nvSpPr>
          <p:cNvPr name="TextBox 11" id="11"/>
          <p:cNvSpPr txBox="true"/>
          <p:nvPr/>
        </p:nvSpPr>
        <p:spPr>
          <a:xfrm rot="0">
            <a:off x="9534534" y="5186266"/>
            <a:ext cx="6797384" cy="380195"/>
          </a:xfrm>
          <a:prstGeom prst="rect">
            <a:avLst/>
          </a:prstGeom>
        </p:spPr>
        <p:txBody>
          <a:bodyPr anchor="t" rtlCol="false" tIns="0" lIns="0" bIns="0" rIns="0">
            <a:spAutoFit/>
          </a:bodyPr>
          <a:lstStyle/>
          <a:p>
            <a:pPr algn="l">
              <a:lnSpc>
                <a:spcPts val="3007"/>
              </a:lnSpc>
            </a:pPr>
            <a:r>
              <a:rPr lang="en-US" sz="2313">
                <a:solidFill>
                  <a:srgbClr val="FFFFFF"/>
                </a:solidFill>
                <a:latin typeface="Montserrat"/>
                <a:ea typeface="Montserrat"/>
                <a:cs typeface="Montserrat"/>
                <a:sym typeface="Montserrat"/>
              </a:rPr>
              <a:t>Réduction de la colinéarité</a:t>
            </a:r>
          </a:p>
        </p:txBody>
      </p:sp>
      <p:sp>
        <p:nvSpPr>
          <p:cNvPr name="TextBox 12" id="12"/>
          <p:cNvSpPr txBox="true"/>
          <p:nvPr/>
        </p:nvSpPr>
        <p:spPr>
          <a:xfrm rot="0">
            <a:off x="9534534" y="5707870"/>
            <a:ext cx="6797384" cy="380195"/>
          </a:xfrm>
          <a:prstGeom prst="rect">
            <a:avLst/>
          </a:prstGeom>
        </p:spPr>
        <p:txBody>
          <a:bodyPr anchor="t" rtlCol="false" tIns="0" lIns="0" bIns="0" rIns="0">
            <a:spAutoFit/>
          </a:bodyPr>
          <a:lstStyle/>
          <a:p>
            <a:pPr algn="l">
              <a:lnSpc>
                <a:spcPts val="3007"/>
              </a:lnSpc>
            </a:pPr>
            <a:r>
              <a:rPr lang="en-US" sz="2313">
                <a:solidFill>
                  <a:srgbClr val="FFFFFF"/>
                </a:solidFill>
                <a:latin typeface="Montserrat"/>
                <a:ea typeface="Montserrat"/>
                <a:cs typeface="Montserrat"/>
                <a:sym typeface="Montserrat"/>
              </a:rPr>
              <a:t>Intégration de variables catégorielles </a:t>
            </a:r>
          </a:p>
        </p:txBody>
      </p:sp>
      <p:sp>
        <p:nvSpPr>
          <p:cNvPr name="TextBox 13" id="13"/>
          <p:cNvSpPr txBox="true"/>
          <p:nvPr/>
        </p:nvSpPr>
        <p:spPr>
          <a:xfrm rot="0">
            <a:off x="9534534" y="6229473"/>
            <a:ext cx="6797384" cy="380195"/>
          </a:xfrm>
          <a:prstGeom prst="rect">
            <a:avLst/>
          </a:prstGeom>
        </p:spPr>
        <p:txBody>
          <a:bodyPr anchor="t" rtlCol="false" tIns="0" lIns="0" bIns="0" rIns="0">
            <a:spAutoFit/>
          </a:bodyPr>
          <a:lstStyle/>
          <a:p>
            <a:pPr algn="l">
              <a:lnSpc>
                <a:spcPts val="3007"/>
              </a:lnSpc>
            </a:pPr>
            <a:r>
              <a:rPr lang="en-US" sz="2313">
                <a:solidFill>
                  <a:srgbClr val="FFFFFF"/>
                </a:solidFill>
                <a:latin typeface="Montserrat"/>
                <a:ea typeface="Montserrat"/>
                <a:cs typeface="Montserrat"/>
                <a:sym typeface="Montserrat"/>
              </a:rPr>
              <a:t>Relations plus saines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95026" y="2549015"/>
            <a:ext cx="9014171" cy="5780337"/>
          </a:xfrm>
          <a:custGeom>
            <a:avLst/>
            <a:gdLst/>
            <a:ahLst/>
            <a:cxnLst/>
            <a:rect r="r" b="b" t="t" l="l"/>
            <a:pathLst>
              <a:path h="5780337" w="9014171">
                <a:moveTo>
                  <a:pt x="0" y="0"/>
                </a:moveTo>
                <a:lnTo>
                  <a:pt x="9014171" y="0"/>
                </a:lnTo>
                <a:lnTo>
                  <a:pt x="9014171" y="5780337"/>
                </a:lnTo>
                <a:lnTo>
                  <a:pt x="0" y="5780337"/>
                </a:lnTo>
                <a:lnTo>
                  <a:pt x="0" y="0"/>
                </a:lnTo>
                <a:close/>
              </a:path>
            </a:pathLst>
          </a:custGeom>
          <a:blipFill>
            <a:blip r:embed="rId6"/>
            <a:stretch>
              <a:fillRect l="0" t="0" r="0" b="0"/>
            </a:stretch>
          </a:blipFill>
        </p:spPr>
      </p:sp>
      <p:sp>
        <p:nvSpPr>
          <p:cNvPr name="TextBox 6" id="6"/>
          <p:cNvSpPr txBox="true"/>
          <p:nvPr/>
        </p:nvSpPr>
        <p:spPr>
          <a:xfrm rot="0">
            <a:off x="10179075" y="2349031"/>
            <a:ext cx="5690303" cy="1699098"/>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 Personnalisation (Clustering)</a:t>
            </a:r>
          </a:p>
        </p:txBody>
      </p:sp>
      <p:sp>
        <p:nvSpPr>
          <p:cNvPr name="TextBox 7" id="7"/>
          <p:cNvSpPr txBox="true"/>
          <p:nvPr/>
        </p:nvSpPr>
        <p:spPr>
          <a:xfrm rot="0">
            <a:off x="10393099" y="4333823"/>
            <a:ext cx="7298788"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 Segmenter pour mieux cibler</a:t>
            </a:r>
          </a:p>
        </p:txBody>
      </p:sp>
      <p:sp>
        <p:nvSpPr>
          <p:cNvPr name="TextBox 8" id="8"/>
          <p:cNvSpPr txBox="true"/>
          <p:nvPr/>
        </p:nvSpPr>
        <p:spPr>
          <a:xfrm rot="0">
            <a:off x="10179075" y="5015416"/>
            <a:ext cx="7607219" cy="3428195"/>
          </a:xfrm>
          <a:prstGeom prst="rect">
            <a:avLst/>
          </a:prstGeom>
        </p:spPr>
        <p:txBody>
          <a:bodyPr anchor="t" rtlCol="false" tIns="0" lIns="0" bIns="0" rIns="0">
            <a:spAutoFit/>
          </a:bodyPr>
          <a:lstStyle/>
          <a:p>
            <a:pPr algn="l">
              <a:lnSpc>
                <a:spcPts val="3007"/>
              </a:lnSpc>
              <a:spcBef>
                <a:spcPct val="0"/>
              </a:spcBef>
            </a:pPr>
            <a:r>
              <a:rPr lang="en-US" sz="2313">
                <a:solidFill>
                  <a:srgbClr val="FFFFFF"/>
                </a:solidFill>
                <a:latin typeface="Montserrat"/>
                <a:ea typeface="Montserrat"/>
                <a:cs typeface="Montserrat"/>
                <a:sym typeface="Montserrat"/>
              </a:rPr>
              <a:t>Résultats Techniques :</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Réduction de dimension : 36 composantes via l'ACP </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Algorithme : K-Means avec K=4 clusters identifiés.</a:t>
            </a:r>
          </a:p>
          <a:p>
            <a:pPr algn="l">
              <a:lnSpc>
                <a:spcPts val="3007"/>
              </a:lnSpc>
              <a:spcBef>
                <a:spcPct val="0"/>
              </a:spcBef>
            </a:pPr>
            <a:r>
              <a:rPr lang="en-US" sz="2313">
                <a:solidFill>
                  <a:srgbClr val="FFFFFF"/>
                </a:solidFill>
                <a:latin typeface="Montserrat"/>
                <a:ea typeface="Montserrat"/>
                <a:cs typeface="Montserrat"/>
                <a:sym typeface="Montserrat"/>
              </a:rPr>
              <a:t>Répartition de la Clientèle :</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Cluster 3 : Noyau dur de l'audience.</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Cluster 1 : Segment de niche avec un comportement spécifique.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491128" y="51435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068379" y="2229333"/>
            <a:ext cx="8718601" cy="6256454"/>
            <a:chOff x="0" y="0"/>
            <a:chExt cx="1350740" cy="969288"/>
          </a:xfrm>
        </p:grpSpPr>
        <p:sp>
          <p:nvSpPr>
            <p:cNvPr name="Freeform 7" id="7"/>
            <p:cNvSpPr/>
            <p:nvPr/>
          </p:nvSpPr>
          <p:spPr>
            <a:xfrm flipH="true" flipV="false" rot="0">
              <a:off x="0" y="0"/>
              <a:ext cx="1350740" cy="969288"/>
            </a:xfrm>
            <a:custGeom>
              <a:avLst/>
              <a:gdLst/>
              <a:ahLst/>
              <a:cxnLst/>
              <a:rect r="r" b="b" t="t" l="l"/>
              <a:pathLst>
                <a:path h="969288" w="1350740">
                  <a:moveTo>
                    <a:pt x="1301013" y="0"/>
                  </a:moveTo>
                  <a:lnTo>
                    <a:pt x="49727" y="0"/>
                  </a:lnTo>
                  <a:cubicBezTo>
                    <a:pt x="22263" y="0"/>
                    <a:pt x="0" y="22263"/>
                    <a:pt x="0" y="49727"/>
                  </a:cubicBezTo>
                  <a:lnTo>
                    <a:pt x="0" y="919562"/>
                  </a:lnTo>
                  <a:cubicBezTo>
                    <a:pt x="0" y="947025"/>
                    <a:pt x="22263" y="969288"/>
                    <a:pt x="49727" y="969288"/>
                  </a:cubicBezTo>
                  <a:lnTo>
                    <a:pt x="1301013" y="969288"/>
                  </a:lnTo>
                  <a:cubicBezTo>
                    <a:pt x="1328476" y="969288"/>
                    <a:pt x="1350740" y="947025"/>
                    <a:pt x="1350740" y="919562"/>
                  </a:cubicBezTo>
                  <a:lnTo>
                    <a:pt x="1350740" y="49727"/>
                  </a:lnTo>
                  <a:cubicBezTo>
                    <a:pt x="1350740" y="22263"/>
                    <a:pt x="1328476" y="0"/>
                    <a:pt x="1301013" y="0"/>
                  </a:cubicBezTo>
                  <a:close/>
                </a:path>
              </a:pathLst>
            </a:custGeom>
            <a:blipFill>
              <a:blip r:embed="rId6"/>
              <a:stretch>
                <a:fillRect l="0" t="0" r="-7707" b="0"/>
              </a:stretch>
            </a:blipFill>
          </p:spPr>
        </p:sp>
      </p:grpSp>
      <p:sp>
        <p:nvSpPr>
          <p:cNvPr name="TextBox 8" id="8"/>
          <p:cNvSpPr txBox="true"/>
          <p:nvPr/>
        </p:nvSpPr>
        <p:spPr>
          <a:xfrm rot="0">
            <a:off x="1437596" y="2696598"/>
            <a:ext cx="9386777" cy="2370303"/>
          </a:xfrm>
          <a:prstGeom prst="rect">
            <a:avLst/>
          </a:prstGeom>
        </p:spPr>
        <p:txBody>
          <a:bodyPr anchor="t" rtlCol="false" tIns="0" lIns="0" bIns="0" rIns="0">
            <a:spAutoFit/>
          </a:bodyPr>
          <a:lstStyle/>
          <a:p>
            <a:pPr algn="l">
              <a:lnSpc>
                <a:spcPts val="9517"/>
              </a:lnSpc>
            </a:pPr>
            <a:r>
              <a:rPr lang="en-US" sz="6798" b="true">
                <a:solidFill>
                  <a:srgbClr val="FFFFFF"/>
                </a:solidFill>
                <a:latin typeface="Montaser Arabic Ultra-Bold"/>
                <a:ea typeface="Montaser Arabic Ultra-Bold"/>
                <a:cs typeface="Montaser Arabic Ultra-Bold"/>
                <a:sym typeface="Montaser Arabic Ultra-Bold"/>
              </a:rPr>
              <a:t>Recommandations</a:t>
            </a:r>
          </a:p>
          <a:p>
            <a:pPr algn="l">
              <a:lnSpc>
                <a:spcPts val="9517"/>
              </a:lnSpc>
              <a:spcBef>
                <a:spcPct val="0"/>
              </a:spcBef>
            </a:pPr>
            <a:r>
              <a:rPr lang="en-US" sz="6798" b="true">
                <a:solidFill>
                  <a:srgbClr val="FFFFFF"/>
                </a:solidFill>
                <a:latin typeface="Montaser Arabic Ultra-Bold"/>
                <a:ea typeface="Montaser Arabic Ultra-Bold"/>
                <a:cs typeface="Montaser Arabic Ultra-Bold"/>
                <a:sym typeface="Montaser Arabic Ultra-Bold"/>
              </a:rPr>
              <a:t>Marketing  :</a:t>
            </a:r>
          </a:p>
        </p:txBody>
      </p:sp>
      <p:sp>
        <p:nvSpPr>
          <p:cNvPr name="TextBox 9" id="9"/>
          <p:cNvSpPr txBox="true"/>
          <p:nvPr/>
        </p:nvSpPr>
        <p:spPr>
          <a:xfrm rot="0">
            <a:off x="1555399" y="5532928"/>
            <a:ext cx="7298788" cy="2260600"/>
          </a:xfrm>
          <a:prstGeom prst="rect">
            <a:avLst/>
          </a:prstGeom>
        </p:spPr>
        <p:txBody>
          <a:bodyPr anchor="t" rtlCol="false" tIns="0" lIns="0" bIns="0" rIns="0">
            <a:spAutoFit/>
          </a:bodyPr>
          <a:lstStyle/>
          <a:p>
            <a:pPr algn="just">
              <a:lnSpc>
                <a:spcPts val="2600"/>
              </a:lnSpc>
            </a:pPr>
          </a:p>
          <a:p>
            <a:pPr algn="just" marL="431801" indent="-215900" lvl="1">
              <a:lnSpc>
                <a:spcPts val="2600"/>
              </a:lnSpc>
              <a:buFont typeface="Arial"/>
              <a:buChar char="•"/>
            </a:pPr>
            <a:r>
              <a:rPr lang="en-US" sz="2000">
                <a:solidFill>
                  <a:srgbClr val="FFFFFF"/>
                </a:solidFill>
                <a:latin typeface="Montserrat"/>
                <a:ea typeface="Montserrat"/>
                <a:cs typeface="Montserrat"/>
                <a:sym typeface="Montserrat"/>
              </a:rPr>
              <a:t>Pour les VIP (Cluster 1) : Programme de fidélité "Platinum", accès prioritaire aux nouvelles collections de cadeaux.</a:t>
            </a:r>
          </a:p>
          <a:p>
            <a:pPr algn="just" marL="431801" indent="-215900" lvl="1">
              <a:lnSpc>
                <a:spcPts val="2600"/>
              </a:lnSpc>
              <a:buFont typeface="Arial"/>
              <a:buChar char="•"/>
            </a:pPr>
            <a:r>
              <a:rPr lang="en-US" sz="2000">
                <a:solidFill>
                  <a:srgbClr val="FFFFFF"/>
                </a:solidFill>
                <a:latin typeface="Montserrat"/>
                <a:ea typeface="Montserrat"/>
                <a:cs typeface="Montserrat"/>
                <a:sym typeface="Montserrat"/>
              </a:rPr>
              <a:t>Pour le Cluster 3 : Campagnes de parrainage pour transformer ces clients réguliers en ambassadeurs.</a:t>
            </a:r>
          </a:p>
          <a:p>
            <a:pPr algn="just">
              <a:lnSpc>
                <a:spcPts val="26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796297" y="5538592"/>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625515" y="2493506"/>
            <a:ext cx="8944678" cy="5791679"/>
          </a:xfrm>
          <a:custGeom>
            <a:avLst/>
            <a:gdLst/>
            <a:ahLst/>
            <a:cxnLst/>
            <a:rect r="r" b="b" t="t" l="l"/>
            <a:pathLst>
              <a:path h="5791679" w="8944678">
                <a:moveTo>
                  <a:pt x="0" y="0"/>
                </a:moveTo>
                <a:lnTo>
                  <a:pt x="8944678" y="0"/>
                </a:lnTo>
                <a:lnTo>
                  <a:pt x="8944678" y="5791679"/>
                </a:lnTo>
                <a:lnTo>
                  <a:pt x="0" y="5791679"/>
                </a:lnTo>
                <a:lnTo>
                  <a:pt x="0" y="0"/>
                </a:lnTo>
                <a:close/>
              </a:path>
            </a:pathLst>
          </a:custGeom>
          <a:blipFill>
            <a:blip r:embed="rId6"/>
            <a:stretch>
              <a:fillRect l="0" t="0" r="0" b="0"/>
            </a:stretch>
          </a:blipFill>
        </p:spPr>
      </p:sp>
      <p:sp>
        <p:nvSpPr>
          <p:cNvPr name="TextBox 7" id="7"/>
          <p:cNvSpPr txBox="true"/>
          <p:nvPr/>
        </p:nvSpPr>
        <p:spPr>
          <a:xfrm rot="0">
            <a:off x="1028700" y="2407781"/>
            <a:ext cx="7187919" cy="1699098"/>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Réduction du Churn (Classification)</a:t>
            </a:r>
          </a:p>
        </p:txBody>
      </p:sp>
      <p:sp>
        <p:nvSpPr>
          <p:cNvPr name="TextBox 8" id="8"/>
          <p:cNvSpPr txBox="true"/>
          <p:nvPr/>
        </p:nvSpPr>
        <p:spPr>
          <a:xfrm rot="0">
            <a:off x="1028700" y="4281289"/>
            <a:ext cx="7077050"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Anticiper les départs clients</a:t>
            </a:r>
          </a:p>
        </p:txBody>
      </p:sp>
      <p:sp>
        <p:nvSpPr>
          <p:cNvPr name="TextBox 9" id="9"/>
          <p:cNvSpPr txBox="true"/>
          <p:nvPr/>
        </p:nvSpPr>
        <p:spPr>
          <a:xfrm rot="0">
            <a:off x="1028700" y="5024328"/>
            <a:ext cx="7077050" cy="3428195"/>
          </a:xfrm>
          <a:prstGeom prst="rect">
            <a:avLst/>
          </a:prstGeom>
        </p:spPr>
        <p:txBody>
          <a:bodyPr anchor="t" rtlCol="false" tIns="0" lIns="0" bIns="0" rIns="0">
            <a:spAutoFit/>
          </a:bodyPr>
          <a:lstStyle/>
          <a:p>
            <a:pPr algn="l">
              <a:lnSpc>
                <a:spcPts val="3007"/>
              </a:lnSpc>
              <a:spcBef>
                <a:spcPct val="0"/>
              </a:spcBef>
            </a:pPr>
            <a:r>
              <a:rPr lang="en-US" b="true" sz="2313">
                <a:solidFill>
                  <a:srgbClr val="FFFFFF"/>
                </a:solidFill>
                <a:latin typeface="Montserrat Bold"/>
                <a:ea typeface="Montserrat Bold"/>
                <a:cs typeface="Montserrat Bold"/>
                <a:sym typeface="Montserrat Bold"/>
              </a:rPr>
              <a:t>Le choix stratégique : Random Forest</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Efficacité : Score AUC de 0,791 (quasiment identique au Gradient Boosting).</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Vitesse : Traitement ultra-rapide grâce au calcul en parallèle.</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Robustesse : Haute résistance aux valeurs aberrantes et au bruit des données.</a:t>
            </a:r>
          </a:p>
          <a:p>
            <a:pPr algn="l" marL="499464" indent="-249732" lvl="1">
              <a:lnSpc>
                <a:spcPts val="3007"/>
              </a:lnSpc>
              <a:buFont typeface="Arial"/>
              <a:buChar char="•"/>
            </a:pPr>
            <a:r>
              <a:rPr lang="en-US" sz="2313">
                <a:solidFill>
                  <a:srgbClr val="FFFFFF"/>
                </a:solidFill>
                <a:latin typeface="Montserrat"/>
                <a:ea typeface="Montserrat"/>
                <a:cs typeface="Montserrat"/>
                <a:sym typeface="Montserrat"/>
              </a:rPr>
              <a:t>Agilité : Moins gourmand en ressources, idéal pour un déploiement en production.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796297" y="5538592"/>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824940" y="1186451"/>
            <a:ext cx="12638121" cy="7535479"/>
          </a:xfrm>
          <a:custGeom>
            <a:avLst/>
            <a:gdLst/>
            <a:ahLst/>
            <a:cxnLst/>
            <a:rect r="r" b="b" t="t" l="l"/>
            <a:pathLst>
              <a:path h="7535479" w="12638121">
                <a:moveTo>
                  <a:pt x="0" y="0"/>
                </a:moveTo>
                <a:lnTo>
                  <a:pt x="12638120" y="0"/>
                </a:lnTo>
                <a:lnTo>
                  <a:pt x="12638120" y="7535479"/>
                </a:lnTo>
                <a:lnTo>
                  <a:pt x="0" y="7535479"/>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491128" y="51435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068379" y="2229333"/>
            <a:ext cx="8718601" cy="6256454"/>
            <a:chOff x="0" y="0"/>
            <a:chExt cx="1350740" cy="969288"/>
          </a:xfrm>
        </p:grpSpPr>
        <p:sp>
          <p:nvSpPr>
            <p:cNvPr name="Freeform 7" id="7"/>
            <p:cNvSpPr/>
            <p:nvPr/>
          </p:nvSpPr>
          <p:spPr>
            <a:xfrm flipH="true" flipV="false" rot="0">
              <a:off x="0" y="0"/>
              <a:ext cx="1350740" cy="969288"/>
            </a:xfrm>
            <a:custGeom>
              <a:avLst/>
              <a:gdLst/>
              <a:ahLst/>
              <a:cxnLst/>
              <a:rect r="r" b="b" t="t" l="l"/>
              <a:pathLst>
                <a:path h="969288" w="1350740">
                  <a:moveTo>
                    <a:pt x="1301013" y="0"/>
                  </a:moveTo>
                  <a:lnTo>
                    <a:pt x="49727" y="0"/>
                  </a:lnTo>
                  <a:cubicBezTo>
                    <a:pt x="22263" y="0"/>
                    <a:pt x="0" y="22263"/>
                    <a:pt x="0" y="49727"/>
                  </a:cubicBezTo>
                  <a:lnTo>
                    <a:pt x="0" y="919562"/>
                  </a:lnTo>
                  <a:cubicBezTo>
                    <a:pt x="0" y="947025"/>
                    <a:pt x="22263" y="969288"/>
                    <a:pt x="49727" y="969288"/>
                  </a:cubicBezTo>
                  <a:lnTo>
                    <a:pt x="1301013" y="969288"/>
                  </a:lnTo>
                  <a:cubicBezTo>
                    <a:pt x="1328476" y="969288"/>
                    <a:pt x="1350740" y="947025"/>
                    <a:pt x="1350740" y="919562"/>
                  </a:cubicBezTo>
                  <a:lnTo>
                    <a:pt x="1350740" y="49727"/>
                  </a:lnTo>
                  <a:cubicBezTo>
                    <a:pt x="1350740" y="22263"/>
                    <a:pt x="1328476" y="0"/>
                    <a:pt x="1301013" y="0"/>
                  </a:cubicBezTo>
                  <a:close/>
                </a:path>
              </a:pathLst>
            </a:custGeom>
            <a:blipFill>
              <a:blip r:embed="rId6"/>
              <a:stretch>
                <a:fillRect l="0" t="0" r="-7707" b="0"/>
              </a:stretch>
            </a:blipFill>
          </p:spPr>
        </p:sp>
      </p:grpSp>
      <p:sp>
        <p:nvSpPr>
          <p:cNvPr name="TextBox 8" id="8"/>
          <p:cNvSpPr txBox="true"/>
          <p:nvPr/>
        </p:nvSpPr>
        <p:spPr>
          <a:xfrm rot="0">
            <a:off x="1437596" y="2696598"/>
            <a:ext cx="9386777" cy="2370303"/>
          </a:xfrm>
          <a:prstGeom prst="rect">
            <a:avLst/>
          </a:prstGeom>
        </p:spPr>
        <p:txBody>
          <a:bodyPr anchor="t" rtlCol="false" tIns="0" lIns="0" bIns="0" rIns="0">
            <a:spAutoFit/>
          </a:bodyPr>
          <a:lstStyle/>
          <a:p>
            <a:pPr algn="l">
              <a:lnSpc>
                <a:spcPts val="9517"/>
              </a:lnSpc>
            </a:pPr>
            <a:r>
              <a:rPr lang="en-US" sz="6798" b="true">
                <a:solidFill>
                  <a:srgbClr val="FFFFFF"/>
                </a:solidFill>
                <a:latin typeface="Montaser Arabic Ultra-Bold"/>
                <a:ea typeface="Montaser Arabic Ultra-Bold"/>
                <a:cs typeface="Montaser Arabic Ultra-Bold"/>
                <a:sym typeface="Montaser Arabic Ultra-Bold"/>
              </a:rPr>
              <a:t>Recommandations</a:t>
            </a:r>
          </a:p>
          <a:p>
            <a:pPr algn="l">
              <a:lnSpc>
                <a:spcPts val="9517"/>
              </a:lnSpc>
              <a:spcBef>
                <a:spcPct val="0"/>
              </a:spcBef>
            </a:pPr>
            <a:r>
              <a:rPr lang="en-US" sz="6798" b="true">
                <a:solidFill>
                  <a:srgbClr val="FFFFFF"/>
                </a:solidFill>
                <a:latin typeface="Montaser Arabic Ultra-Bold"/>
                <a:ea typeface="Montaser Arabic Ultra-Bold"/>
                <a:cs typeface="Montaser Arabic Ultra-Bold"/>
                <a:sym typeface="Montaser Arabic Ultra-Bold"/>
              </a:rPr>
              <a:t>Marketing  :</a:t>
            </a:r>
          </a:p>
        </p:txBody>
      </p:sp>
      <p:sp>
        <p:nvSpPr>
          <p:cNvPr name="TextBox 9" id="9"/>
          <p:cNvSpPr txBox="true"/>
          <p:nvPr/>
        </p:nvSpPr>
        <p:spPr>
          <a:xfrm rot="0">
            <a:off x="1555399" y="5532928"/>
            <a:ext cx="7298788" cy="2584450"/>
          </a:xfrm>
          <a:prstGeom prst="rect">
            <a:avLst/>
          </a:prstGeom>
        </p:spPr>
        <p:txBody>
          <a:bodyPr anchor="t" rtlCol="false" tIns="0" lIns="0" bIns="0" rIns="0">
            <a:spAutoFit/>
          </a:bodyPr>
          <a:lstStyle/>
          <a:p>
            <a:pPr algn="just" marL="431801" indent="-215900" lvl="1">
              <a:lnSpc>
                <a:spcPts val="2600"/>
              </a:lnSpc>
              <a:buFont typeface="Arial"/>
              <a:buChar char="•"/>
            </a:pPr>
            <a:r>
              <a:rPr lang="en-US" sz="2000">
                <a:solidFill>
                  <a:srgbClr val="FFFFFF"/>
                </a:solidFill>
                <a:latin typeface="Montserrat"/>
                <a:ea typeface="Montserrat"/>
                <a:cs typeface="Montserrat"/>
                <a:sym typeface="Montserrat"/>
              </a:rPr>
              <a:t>Score de Risque en Temps Réel : Intégrer le modèle au CRM pour alerter les conseillers dès qu'un score dépasse 0.5.</a:t>
            </a:r>
          </a:p>
          <a:p>
            <a:pPr algn="just" marL="431801" indent="-215900" lvl="1">
              <a:lnSpc>
                <a:spcPts val="2600"/>
              </a:lnSpc>
              <a:buFont typeface="Arial"/>
              <a:buChar char="•"/>
            </a:pPr>
            <a:r>
              <a:rPr lang="en-US" sz="2000">
                <a:solidFill>
                  <a:srgbClr val="FFFFFF"/>
                </a:solidFill>
                <a:latin typeface="Montserrat"/>
                <a:ea typeface="Montserrat"/>
                <a:cs typeface="Montserrat"/>
                <a:sym typeface="Montserrat"/>
              </a:rPr>
              <a:t>Action Anti-Attrition : Envoyer un bon d'achat "On vous regrette déjà" ciblé spécifiquement sur les catégories de produits qu'ils n'ont pas encore testées (pour augmenter la ProductDiversity).</a:t>
            </a:r>
          </a:p>
          <a:p>
            <a:pPr algn="just">
              <a:lnSpc>
                <a:spcPts val="26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437596" y="2744223"/>
            <a:ext cx="11153967"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Optimisation du CA (Régression)</a:t>
            </a:r>
          </a:p>
        </p:txBody>
      </p:sp>
      <p:sp>
        <p:nvSpPr>
          <p:cNvPr name="TextBox 6" id="6"/>
          <p:cNvSpPr txBox="true"/>
          <p:nvPr/>
        </p:nvSpPr>
        <p:spPr>
          <a:xfrm rot="0">
            <a:off x="1437596" y="3612396"/>
            <a:ext cx="8583346"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Prédire la valeur monétaire des clients</a:t>
            </a:r>
          </a:p>
        </p:txBody>
      </p:sp>
      <p:sp>
        <p:nvSpPr>
          <p:cNvPr name="TextBox 7" id="7"/>
          <p:cNvSpPr txBox="true"/>
          <p:nvPr/>
        </p:nvSpPr>
        <p:spPr>
          <a:xfrm rot="0">
            <a:off x="1437596" y="4657451"/>
            <a:ext cx="14439755" cy="3414860"/>
          </a:xfrm>
          <a:prstGeom prst="rect">
            <a:avLst/>
          </a:prstGeom>
        </p:spPr>
        <p:txBody>
          <a:bodyPr anchor="t" rtlCol="false" tIns="0" lIns="0" bIns="0" rIns="0">
            <a:spAutoFit/>
          </a:bodyPr>
          <a:lstStyle/>
          <a:p>
            <a:pPr algn="l" marL="564233" indent="-282116" lvl="1">
              <a:lnSpc>
                <a:spcPts val="3397"/>
              </a:lnSpc>
              <a:buFont typeface="Arial"/>
              <a:buChar char="•"/>
            </a:pPr>
            <a:r>
              <a:rPr lang="en-US" sz="2613">
                <a:solidFill>
                  <a:srgbClr val="FFFFFF"/>
                </a:solidFill>
                <a:latin typeface="Montserrat"/>
                <a:ea typeface="Montserrat"/>
                <a:cs typeface="Montserrat"/>
                <a:sym typeface="Montserrat"/>
              </a:rPr>
              <a:t>Fiabilité du modèle : Score R² de 0.59, indiquant que le modèle capture une part significative des variations de dépenses des clients.</a:t>
            </a:r>
          </a:p>
          <a:p>
            <a:pPr algn="l" marL="564233" indent="-282116" lvl="1">
              <a:lnSpc>
                <a:spcPts val="3397"/>
              </a:lnSpc>
              <a:buFont typeface="Arial"/>
              <a:buChar char="•"/>
            </a:pPr>
            <a:r>
              <a:rPr lang="en-US" sz="2613">
                <a:solidFill>
                  <a:srgbClr val="FFFFFF"/>
                </a:solidFill>
                <a:latin typeface="Montserrat"/>
                <a:ea typeface="Montserrat"/>
                <a:cs typeface="Montserrat"/>
                <a:sym typeface="Montserrat"/>
              </a:rPr>
              <a:t>Précision : Erreur moyenne (MAE) de seulement 0.10, ce qui permet des prévisions de revenus très affinées au niveau individuel.</a:t>
            </a:r>
          </a:p>
          <a:p>
            <a:pPr algn="l" marL="564233" indent="-282116" lvl="1">
              <a:lnSpc>
                <a:spcPts val="3397"/>
              </a:lnSpc>
              <a:buFont typeface="Arial"/>
              <a:buChar char="•"/>
            </a:pPr>
            <a:r>
              <a:rPr lang="en-US" sz="2613">
                <a:solidFill>
                  <a:srgbClr val="FFFFFF"/>
                </a:solidFill>
                <a:latin typeface="Montserrat"/>
                <a:ea typeface="Montserrat"/>
                <a:cs typeface="Montserrat"/>
                <a:sym typeface="Montserrat"/>
              </a:rPr>
              <a:t>Optimisation : Utilisation d'un modèle Random Forest optimisé (Profondeur 10, 100 arbres) pour estimer le potentiel financier futur.</a:t>
            </a:r>
          </a:p>
          <a:p>
            <a:pPr algn="l" marL="564233" indent="-282116" lvl="1">
              <a:lnSpc>
                <a:spcPts val="3397"/>
              </a:lnSpc>
              <a:buFont typeface="Arial"/>
              <a:buChar char="•"/>
            </a:pPr>
            <a:r>
              <a:rPr lang="en-US" b="true" sz="2613">
                <a:solidFill>
                  <a:srgbClr val="04E1F9"/>
                </a:solidFill>
                <a:latin typeface="Montserrat Bold"/>
                <a:ea typeface="Montserrat Bold"/>
                <a:cs typeface="Montserrat Bold"/>
                <a:sym typeface="Montserrat Bold"/>
              </a:rPr>
              <a:t>Action : Allouer le budget marketing en priorité sur les clients dont la prédiction de dépense est la plus élevée (Maximisation du ROI).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491128" y="51435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068379" y="2229333"/>
            <a:ext cx="8718601" cy="6256454"/>
            <a:chOff x="0" y="0"/>
            <a:chExt cx="1350740" cy="969288"/>
          </a:xfrm>
        </p:grpSpPr>
        <p:sp>
          <p:nvSpPr>
            <p:cNvPr name="Freeform 7" id="7"/>
            <p:cNvSpPr/>
            <p:nvPr/>
          </p:nvSpPr>
          <p:spPr>
            <a:xfrm flipH="true" flipV="false" rot="0">
              <a:off x="0" y="0"/>
              <a:ext cx="1350740" cy="969288"/>
            </a:xfrm>
            <a:custGeom>
              <a:avLst/>
              <a:gdLst/>
              <a:ahLst/>
              <a:cxnLst/>
              <a:rect r="r" b="b" t="t" l="l"/>
              <a:pathLst>
                <a:path h="969288" w="1350740">
                  <a:moveTo>
                    <a:pt x="1301013" y="0"/>
                  </a:moveTo>
                  <a:lnTo>
                    <a:pt x="49727" y="0"/>
                  </a:lnTo>
                  <a:cubicBezTo>
                    <a:pt x="22263" y="0"/>
                    <a:pt x="0" y="22263"/>
                    <a:pt x="0" y="49727"/>
                  </a:cubicBezTo>
                  <a:lnTo>
                    <a:pt x="0" y="919562"/>
                  </a:lnTo>
                  <a:cubicBezTo>
                    <a:pt x="0" y="947025"/>
                    <a:pt x="22263" y="969288"/>
                    <a:pt x="49727" y="969288"/>
                  </a:cubicBezTo>
                  <a:lnTo>
                    <a:pt x="1301013" y="969288"/>
                  </a:lnTo>
                  <a:cubicBezTo>
                    <a:pt x="1328476" y="969288"/>
                    <a:pt x="1350740" y="947025"/>
                    <a:pt x="1350740" y="919562"/>
                  </a:cubicBezTo>
                  <a:lnTo>
                    <a:pt x="1350740" y="49727"/>
                  </a:lnTo>
                  <a:cubicBezTo>
                    <a:pt x="1350740" y="22263"/>
                    <a:pt x="1328476" y="0"/>
                    <a:pt x="1301013" y="0"/>
                  </a:cubicBezTo>
                  <a:close/>
                </a:path>
              </a:pathLst>
            </a:custGeom>
            <a:blipFill>
              <a:blip r:embed="rId6"/>
              <a:stretch>
                <a:fillRect l="0" t="0" r="-7707" b="0"/>
              </a:stretch>
            </a:blipFill>
          </p:spPr>
        </p:sp>
      </p:grpSp>
      <p:sp>
        <p:nvSpPr>
          <p:cNvPr name="TextBox 8" id="8"/>
          <p:cNvSpPr txBox="true"/>
          <p:nvPr/>
        </p:nvSpPr>
        <p:spPr>
          <a:xfrm rot="0">
            <a:off x="1437596" y="2696598"/>
            <a:ext cx="9386777" cy="2370303"/>
          </a:xfrm>
          <a:prstGeom prst="rect">
            <a:avLst/>
          </a:prstGeom>
        </p:spPr>
        <p:txBody>
          <a:bodyPr anchor="t" rtlCol="false" tIns="0" lIns="0" bIns="0" rIns="0">
            <a:spAutoFit/>
          </a:bodyPr>
          <a:lstStyle/>
          <a:p>
            <a:pPr algn="l">
              <a:lnSpc>
                <a:spcPts val="9517"/>
              </a:lnSpc>
            </a:pPr>
            <a:r>
              <a:rPr lang="en-US" sz="6798" b="true">
                <a:solidFill>
                  <a:srgbClr val="FFFFFF"/>
                </a:solidFill>
                <a:latin typeface="Montaser Arabic Ultra-Bold"/>
                <a:ea typeface="Montaser Arabic Ultra-Bold"/>
                <a:cs typeface="Montaser Arabic Ultra-Bold"/>
                <a:sym typeface="Montaser Arabic Ultra-Bold"/>
              </a:rPr>
              <a:t>Recommandations</a:t>
            </a:r>
          </a:p>
          <a:p>
            <a:pPr algn="l">
              <a:lnSpc>
                <a:spcPts val="9517"/>
              </a:lnSpc>
              <a:spcBef>
                <a:spcPct val="0"/>
              </a:spcBef>
            </a:pPr>
            <a:r>
              <a:rPr lang="en-US" sz="6798" b="true">
                <a:solidFill>
                  <a:srgbClr val="FFFFFF"/>
                </a:solidFill>
                <a:latin typeface="Montaser Arabic Ultra-Bold"/>
                <a:ea typeface="Montaser Arabic Ultra-Bold"/>
                <a:cs typeface="Montaser Arabic Ultra-Bold"/>
                <a:sym typeface="Montaser Arabic Ultra-Bold"/>
              </a:rPr>
              <a:t>Marketing  :</a:t>
            </a:r>
          </a:p>
        </p:txBody>
      </p:sp>
      <p:sp>
        <p:nvSpPr>
          <p:cNvPr name="TextBox 9" id="9"/>
          <p:cNvSpPr txBox="true"/>
          <p:nvPr/>
        </p:nvSpPr>
        <p:spPr>
          <a:xfrm rot="0">
            <a:off x="1555399" y="5532928"/>
            <a:ext cx="7298788" cy="2584450"/>
          </a:xfrm>
          <a:prstGeom prst="rect">
            <a:avLst/>
          </a:prstGeom>
        </p:spPr>
        <p:txBody>
          <a:bodyPr anchor="t" rtlCol="false" tIns="0" lIns="0" bIns="0" rIns="0">
            <a:spAutoFit/>
          </a:bodyPr>
          <a:lstStyle/>
          <a:p>
            <a:pPr algn="just" marL="431801" indent="-215900" lvl="1">
              <a:lnSpc>
                <a:spcPts val="2600"/>
              </a:lnSpc>
              <a:buFont typeface="Arial"/>
              <a:buChar char="•"/>
            </a:pPr>
            <a:r>
              <a:rPr lang="en-US" sz="2000">
                <a:solidFill>
                  <a:srgbClr val="FFFFFF"/>
                </a:solidFill>
                <a:latin typeface="Montserrat"/>
                <a:ea typeface="Montserrat"/>
                <a:cs typeface="Montserrat"/>
                <a:sym typeface="Montserrat"/>
              </a:rPr>
              <a:t>Optimisation Budgétaire : Ne plus dépenser de budget publicitaire (Ads) sur les clients dont la dépense prédite est inférieure au coût d'acquisition.</a:t>
            </a:r>
          </a:p>
          <a:p>
            <a:pPr algn="just" marL="431801" indent="-215900" lvl="1">
              <a:lnSpc>
                <a:spcPts val="2600"/>
              </a:lnSpc>
              <a:buFont typeface="Arial"/>
              <a:buChar char="•"/>
            </a:pPr>
            <a:r>
              <a:rPr lang="en-US" sz="2000">
                <a:solidFill>
                  <a:srgbClr val="FFFFFF"/>
                </a:solidFill>
                <a:latin typeface="Montserrat"/>
                <a:ea typeface="Montserrat"/>
                <a:cs typeface="Montserrat"/>
                <a:sym typeface="Montserrat"/>
              </a:rPr>
              <a:t>Ciblage Haute Valeur : Isoler les clients avec une prédiction de dépense élevée mais une fréquence actuelle faible pour des campagnes d' "Upselling" (montée en gamme).</a:t>
            </a:r>
          </a:p>
          <a:p>
            <a:pPr algn="just">
              <a:lnSpc>
                <a:spcPts val="2600"/>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2461" t="-15029" r="0" b="-18174"/>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37596" y="2917963"/>
            <a:ext cx="7097411" cy="4861530"/>
          </a:xfrm>
          <a:prstGeom prst="rect">
            <a:avLst/>
          </a:prstGeom>
        </p:spPr>
        <p:txBody>
          <a:bodyPr anchor="t" rtlCol="false" tIns="0" lIns="0" bIns="0" rIns="0">
            <a:spAutoFit/>
          </a:bodyPr>
          <a:lstStyle/>
          <a:p>
            <a:pPr algn="l">
              <a:lnSpc>
                <a:spcPts val="12969"/>
              </a:lnSpc>
              <a:spcBef>
                <a:spcPct val="0"/>
              </a:spcBef>
            </a:pPr>
            <a:r>
              <a:rPr lang="en-US" sz="9264" b="true">
                <a:solidFill>
                  <a:srgbClr val="FFFFFF"/>
                </a:solidFill>
                <a:latin typeface="Montaser Arabic Ultra-Bold"/>
                <a:ea typeface="Montaser Arabic Ultra-Bold"/>
                <a:cs typeface="Montaser Arabic Ultra-Bold"/>
                <a:sym typeface="Montaser Arabic Ultra-Bold"/>
              </a:rPr>
              <a:t>Merci Pour Votre Attention</a:t>
            </a:r>
          </a:p>
        </p:txBody>
      </p:sp>
      <p:sp>
        <p:nvSpPr>
          <p:cNvPr name="Freeform 5" id="5"/>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7033327" y="44958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DAHG7OKYEPg</dc:identifier>
  <dcterms:modified xsi:type="dcterms:W3CDTF">2011-08-01T06:04:30Z</dcterms:modified>
  <cp:revision>1</cp:revision>
  <dc:title>Black and Blue Modern AI and Machine Learning Presentation</dc:title>
</cp:coreProperties>
</file>